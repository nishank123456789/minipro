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8"/>
  </p:notesMasterIdLst>
  <p:sldIdLst>
    <p:sldId id="290" r:id="rId5"/>
    <p:sldId id="258" r:id="rId6"/>
    <p:sldId id="317" r:id="rId7"/>
    <p:sldId id="259" r:id="rId8"/>
    <p:sldId id="288" r:id="rId9"/>
    <p:sldId id="269" r:id="rId10"/>
    <p:sldId id="264" r:id="rId11"/>
    <p:sldId id="265" r:id="rId12"/>
    <p:sldId id="267" r:id="rId13"/>
    <p:sldId id="316" r:id="rId14"/>
    <p:sldId id="320" r:id="rId15"/>
    <p:sldId id="321" r:id="rId16"/>
    <p:sldId id="309" r:id="rId17"/>
    <p:sldId id="322" r:id="rId18"/>
    <p:sldId id="323" r:id="rId19"/>
    <p:sldId id="324" r:id="rId20"/>
    <p:sldId id="325" r:id="rId21"/>
    <p:sldId id="327" r:id="rId22"/>
    <p:sldId id="326" r:id="rId23"/>
    <p:sldId id="328" r:id="rId24"/>
    <p:sldId id="329" r:id="rId25"/>
    <p:sldId id="330" r:id="rId26"/>
    <p:sldId id="331" r:id="rId27"/>
    <p:sldId id="332" r:id="rId28"/>
    <p:sldId id="270" r:id="rId29"/>
    <p:sldId id="336" r:id="rId30"/>
    <p:sldId id="337" r:id="rId31"/>
    <p:sldId id="338" r:id="rId32"/>
    <p:sldId id="333" r:id="rId33"/>
    <p:sldId id="339" r:id="rId34"/>
    <p:sldId id="341" r:id="rId35"/>
    <p:sldId id="340" r:id="rId36"/>
    <p:sldId id="28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74BEFC-76B5-479E-AB05-9856C1685A19}" v="19" dt="2025-04-28T08:07:47.73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6" autoAdjust="0"/>
    <p:restoredTop sz="94660"/>
  </p:normalViewPr>
  <p:slideViewPr>
    <p:cSldViewPr snapToGrid="0" showGuides="1">
      <p:cViewPr varScale="1">
        <p:scale>
          <a:sx n="75" d="100"/>
          <a:sy n="75" d="100"/>
        </p:scale>
        <p:origin x="1598" y="43"/>
      </p:cViewPr>
      <p:guideLst>
        <p:guide orient="horz" pos="2154"/>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Baral" userId="78af172052bcb1a3" providerId="LiveId" clId="{4C74BEFC-76B5-479E-AB05-9856C1685A19}"/>
    <pc:docChg chg="undo custSel addSld delSld modSld">
      <pc:chgData name="Ayush Baral" userId="78af172052bcb1a3" providerId="LiveId" clId="{4C74BEFC-76B5-479E-AB05-9856C1685A19}" dt="2025-04-28T08:13:02.017" v="329" actId="2696"/>
      <pc:docMkLst>
        <pc:docMk/>
      </pc:docMkLst>
      <pc:sldChg chg="del">
        <pc:chgData name="Ayush Baral" userId="78af172052bcb1a3" providerId="LiveId" clId="{4C74BEFC-76B5-479E-AB05-9856C1685A19}" dt="2025-04-28T08:13:02.017" v="329" actId="2696"/>
        <pc:sldMkLst>
          <pc:docMk/>
          <pc:sldMk cId="0" sldId="292"/>
        </pc:sldMkLst>
      </pc:sldChg>
      <pc:sldChg chg="del">
        <pc:chgData name="Ayush Baral" userId="78af172052bcb1a3" providerId="LiveId" clId="{4C74BEFC-76B5-479E-AB05-9856C1685A19}" dt="2025-04-28T07:20:51.082" v="47" actId="2696"/>
        <pc:sldMkLst>
          <pc:docMk/>
          <pc:sldMk cId="0" sldId="305"/>
        </pc:sldMkLst>
      </pc:sldChg>
      <pc:sldChg chg="del">
        <pc:chgData name="Ayush Baral" userId="78af172052bcb1a3" providerId="LiveId" clId="{4C74BEFC-76B5-479E-AB05-9856C1685A19}" dt="2025-04-28T08:00:05.476" v="298" actId="2696"/>
        <pc:sldMkLst>
          <pc:docMk/>
          <pc:sldMk cId="0" sldId="306"/>
        </pc:sldMkLst>
      </pc:sldChg>
      <pc:sldChg chg="del">
        <pc:chgData name="Ayush Baral" userId="78af172052bcb1a3" providerId="LiveId" clId="{4C74BEFC-76B5-479E-AB05-9856C1685A19}" dt="2025-04-28T07:59:42.795" v="296" actId="2696"/>
        <pc:sldMkLst>
          <pc:docMk/>
          <pc:sldMk cId="3379987049" sldId="307"/>
        </pc:sldMkLst>
      </pc:sldChg>
      <pc:sldChg chg="del">
        <pc:chgData name="Ayush Baral" userId="78af172052bcb1a3" providerId="LiveId" clId="{4C74BEFC-76B5-479E-AB05-9856C1685A19}" dt="2025-04-28T07:59:55.848" v="297" actId="2696"/>
        <pc:sldMkLst>
          <pc:docMk/>
          <pc:sldMk cId="4257500701" sldId="308"/>
        </pc:sldMkLst>
      </pc:sldChg>
      <pc:sldChg chg="addSp modSp new mod">
        <pc:chgData name="Ayush Baral" userId="78af172052bcb1a3" providerId="LiveId" clId="{4C74BEFC-76B5-479E-AB05-9856C1685A19}" dt="2025-04-28T08:05:07.622" v="300" actId="20577"/>
        <pc:sldMkLst>
          <pc:docMk/>
          <pc:sldMk cId="2398224045" sldId="309"/>
        </pc:sldMkLst>
        <pc:spChg chg="mod">
          <ac:chgData name="Ayush Baral" userId="78af172052bcb1a3" providerId="LiveId" clId="{4C74BEFC-76B5-479E-AB05-9856C1685A19}" dt="2025-04-28T08:05:07.622" v="300" actId="20577"/>
          <ac:spMkLst>
            <pc:docMk/>
            <pc:sldMk cId="2398224045" sldId="309"/>
            <ac:spMk id="2" creationId="{A28028DA-2655-9311-B196-A4967A351E71}"/>
          </ac:spMkLst>
        </pc:spChg>
        <pc:spChg chg="mod">
          <ac:chgData name="Ayush Baral" userId="78af172052bcb1a3" providerId="LiveId" clId="{4C74BEFC-76B5-479E-AB05-9856C1685A19}" dt="2025-04-28T07:18:42.061" v="37" actId="20577"/>
          <ac:spMkLst>
            <pc:docMk/>
            <pc:sldMk cId="2398224045" sldId="309"/>
            <ac:spMk id="3" creationId="{714D5A68-42A0-E776-8270-B395DDFF3556}"/>
          </ac:spMkLst>
        </pc:spChg>
        <pc:spChg chg="mod">
          <ac:chgData name="Ayush Baral" userId="78af172052bcb1a3" providerId="LiveId" clId="{4C74BEFC-76B5-479E-AB05-9856C1685A19}" dt="2025-04-28T07:19:00.085" v="40" actId="1076"/>
          <ac:spMkLst>
            <pc:docMk/>
            <pc:sldMk cId="2398224045" sldId="309"/>
            <ac:spMk id="4" creationId="{22471D0F-4AE7-EC89-72D4-596061F92813}"/>
          </ac:spMkLst>
        </pc:spChg>
        <pc:spChg chg="mod">
          <ac:chgData name="Ayush Baral" userId="78af172052bcb1a3" providerId="LiveId" clId="{4C74BEFC-76B5-479E-AB05-9856C1685A19}" dt="2025-04-28T07:19:50.279" v="46" actId="1076"/>
          <ac:spMkLst>
            <pc:docMk/>
            <pc:sldMk cId="2398224045" sldId="309"/>
            <ac:spMk id="5" creationId="{53116C6D-03E2-F326-DDC1-FC9535FD1929}"/>
          </ac:spMkLst>
        </pc:spChg>
        <pc:picChg chg="add mod">
          <ac:chgData name="Ayush Baral" userId="78af172052bcb1a3" providerId="LiveId" clId="{4C74BEFC-76B5-479E-AB05-9856C1685A19}" dt="2025-04-28T07:18:49.316" v="38" actId="1076"/>
          <ac:picMkLst>
            <pc:docMk/>
            <pc:sldMk cId="2398224045" sldId="309"/>
            <ac:picMk id="6" creationId="{AA6EB338-2C38-6EDB-8C91-4F772F50A862}"/>
          </ac:picMkLst>
        </pc:picChg>
      </pc:sldChg>
      <pc:sldChg chg="addSp delSp modSp new mod">
        <pc:chgData name="Ayush Baral" userId="78af172052bcb1a3" providerId="LiveId" clId="{4C74BEFC-76B5-479E-AB05-9856C1685A19}" dt="2025-04-28T07:36:10.654" v="147" actId="255"/>
        <pc:sldMkLst>
          <pc:docMk/>
          <pc:sldMk cId="1673265566" sldId="310"/>
        </pc:sldMkLst>
        <pc:spChg chg="del">
          <ac:chgData name="Ayush Baral" userId="78af172052bcb1a3" providerId="LiveId" clId="{4C74BEFC-76B5-479E-AB05-9856C1685A19}" dt="2025-04-28T07:24:18.838" v="51" actId="478"/>
          <ac:spMkLst>
            <pc:docMk/>
            <pc:sldMk cId="1673265566" sldId="310"/>
            <ac:spMk id="2" creationId="{F6572301-A88B-0B8D-F869-5A17F5E4F433}"/>
          </ac:spMkLst>
        </pc:spChg>
        <pc:spChg chg="mod">
          <ac:chgData name="Ayush Baral" userId="78af172052bcb1a3" providerId="LiveId" clId="{4C74BEFC-76B5-479E-AB05-9856C1685A19}" dt="2025-04-28T07:29:15.662" v="99" actId="20577"/>
          <ac:spMkLst>
            <pc:docMk/>
            <pc:sldMk cId="1673265566" sldId="310"/>
            <ac:spMk id="3" creationId="{A3572B77-5282-C78A-EA57-DE4023969A1A}"/>
          </ac:spMkLst>
        </pc:spChg>
        <pc:spChg chg="add mod">
          <ac:chgData name="Ayush Baral" userId="78af172052bcb1a3" providerId="LiveId" clId="{4C74BEFC-76B5-479E-AB05-9856C1685A19}" dt="2025-04-28T07:30:47.295" v="105" actId="1076"/>
          <ac:spMkLst>
            <pc:docMk/>
            <pc:sldMk cId="1673265566" sldId="310"/>
            <ac:spMk id="7" creationId="{6F0552FF-8640-8A03-377A-528F5767B54E}"/>
          </ac:spMkLst>
        </pc:spChg>
        <pc:spChg chg="add mod">
          <ac:chgData name="Ayush Baral" userId="78af172052bcb1a3" providerId="LiveId" clId="{4C74BEFC-76B5-479E-AB05-9856C1685A19}" dt="2025-04-28T07:36:10.654" v="147" actId="255"/>
          <ac:spMkLst>
            <pc:docMk/>
            <pc:sldMk cId="1673265566" sldId="310"/>
            <ac:spMk id="9" creationId="{6303E241-FDAE-B67E-478A-6B7C1949A488}"/>
          </ac:spMkLst>
        </pc:spChg>
        <pc:spChg chg="add mod">
          <ac:chgData name="Ayush Baral" userId="78af172052bcb1a3" providerId="LiveId" clId="{4C74BEFC-76B5-479E-AB05-9856C1685A19}" dt="2025-04-28T07:35:42.834" v="145" actId="1076"/>
          <ac:spMkLst>
            <pc:docMk/>
            <pc:sldMk cId="1673265566" sldId="310"/>
            <ac:spMk id="12" creationId="{33390741-81CC-C27B-6A48-80370A862BD3}"/>
          </ac:spMkLst>
        </pc:spChg>
        <pc:graphicFrameChg chg="add mod">
          <ac:chgData name="Ayush Baral" userId="78af172052bcb1a3" providerId="LiveId" clId="{4C74BEFC-76B5-479E-AB05-9856C1685A19}" dt="2025-04-28T07:35:04.408" v="139" actId="1076"/>
          <ac:graphicFrameMkLst>
            <pc:docMk/>
            <pc:sldMk cId="1673265566" sldId="310"/>
            <ac:graphicFrameMk id="6" creationId="{A2C2AE26-686C-53D9-AB61-26DB98992E05}"/>
          </ac:graphicFrameMkLst>
        </pc:graphicFrameChg>
        <pc:graphicFrameChg chg="add mod modGraphic">
          <ac:chgData name="Ayush Baral" userId="78af172052bcb1a3" providerId="LiveId" clId="{4C74BEFC-76B5-479E-AB05-9856C1685A19}" dt="2025-04-28T07:35:25.934" v="144" actId="1076"/>
          <ac:graphicFrameMkLst>
            <pc:docMk/>
            <pc:sldMk cId="1673265566" sldId="310"/>
            <ac:graphicFrameMk id="10" creationId="{31518DCB-9CA0-77B9-EE28-FE93BB9BD873}"/>
          </ac:graphicFrameMkLst>
        </pc:graphicFrameChg>
      </pc:sldChg>
      <pc:sldChg chg="addSp delSp modSp new mod">
        <pc:chgData name="Ayush Baral" userId="78af172052bcb1a3" providerId="LiveId" clId="{4C74BEFC-76B5-479E-AB05-9856C1685A19}" dt="2025-04-28T07:39:52.635" v="169" actId="1076"/>
        <pc:sldMkLst>
          <pc:docMk/>
          <pc:sldMk cId="291783653" sldId="311"/>
        </pc:sldMkLst>
        <pc:spChg chg="del mod">
          <ac:chgData name="Ayush Baral" userId="78af172052bcb1a3" providerId="LiveId" clId="{4C74BEFC-76B5-479E-AB05-9856C1685A19}" dt="2025-04-28T07:36:52.645" v="153" actId="478"/>
          <ac:spMkLst>
            <pc:docMk/>
            <pc:sldMk cId="291783653" sldId="311"/>
            <ac:spMk id="2" creationId="{32397F56-4573-03A1-38A3-88374CC77C48}"/>
          </ac:spMkLst>
        </pc:spChg>
        <pc:spChg chg="mod">
          <ac:chgData name="Ayush Baral" userId="78af172052bcb1a3" providerId="LiveId" clId="{4C74BEFC-76B5-479E-AB05-9856C1685A19}" dt="2025-04-28T07:38:52.158" v="161" actId="255"/>
          <ac:spMkLst>
            <pc:docMk/>
            <pc:sldMk cId="291783653" sldId="311"/>
            <ac:spMk id="3" creationId="{F46CF82A-4476-FB25-ED97-54FB93074457}"/>
          </ac:spMkLst>
        </pc:spChg>
        <pc:spChg chg="add mod">
          <ac:chgData name="Ayush Baral" userId="78af172052bcb1a3" providerId="LiveId" clId="{4C74BEFC-76B5-479E-AB05-9856C1685A19}" dt="2025-04-28T07:39:52.635" v="169" actId="1076"/>
          <ac:spMkLst>
            <pc:docMk/>
            <pc:sldMk cId="291783653" sldId="311"/>
            <ac:spMk id="8" creationId="{4AE8D3C5-FC87-2184-7AE1-9831AE043C7E}"/>
          </ac:spMkLst>
        </pc:spChg>
        <pc:picChg chg="add mod">
          <ac:chgData name="Ayush Baral" userId="78af172052bcb1a3" providerId="LiveId" clId="{4C74BEFC-76B5-479E-AB05-9856C1685A19}" dt="2025-04-28T07:39:27.813" v="165" actId="1076"/>
          <ac:picMkLst>
            <pc:docMk/>
            <pc:sldMk cId="291783653" sldId="311"/>
            <ac:picMk id="6" creationId="{860D6CF6-9F4B-8909-87DE-61E11E17D292}"/>
          </ac:picMkLst>
        </pc:picChg>
      </pc:sldChg>
      <pc:sldChg chg="delSp modSp new mod">
        <pc:chgData name="Ayush Baral" userId="78af172052bcb1a3" providerId="LiveId" clId="{4C74BEFC-76B5-479E-AB05-9856C1685A19}" dt="2025-04-28T07:45:29.336" v="203" actId="20577"/>
        <pc:sldMkLst>
          <pc:docMk/>
          <pc:sldMk cId="1662111273" sldId="312"/>
        </pc:sldMkLst>
        <pc:spChg chg="del">
          <ac:chgData name="Ayush Baral" userId="78af172052bcb1a3" providerId="LiveId" clId="{4C74BEFC-76B5-479E-AB05-9856C1685A19}" dt="2025-04-28T07:40:36.526" v="171" actId="478"/>
          <ac:spMkLst>
            <pc:docMk/>
            <pc:sldMk cId="1662111273" sldId="312"/>
            <ac:spMk id="2" creationId="{9A21D18D-3D7B-F42F-37EA-53C333B7928C}"/>
          </ac:spMkLst>
        </pc:spChg>
        <pc:spChg chg="mod">
          <ac:chgData name="Ayush Baral" userId="78af172052bcb1a3" providerId="LiveId" clId="{4C74BEFC-76B5-479E-AB05-9856C1685A19}" dt="2025-04-28T07:45:29.336" v="203" actId="20577"/>
          <ac:spMkLst>
            <pc:docMk/>
            <pc:sldMk cId="1662111273" sldId="312"/>
            <ac:spMk id="3" creationId="{8604CC32-6AF5-3FA3-CC69-C0AE29110A13}"/>
          </ac:spMkLst>
        </pc:spChg>
      </pc:sldChg>
      <pc:sldChg chg="addSp delSp modSp new mod">
        <pc:chgData name="Ayush Baral" userId="78af172052bcb1a3" providerId="LiveId" clId="{4C74BEFC-76B5-479E-AB05-9856C1685A19}" dt="2025-04-28T07:51:41.573" v="238" actId="1076"/>
        <pc:sldMkLst>
          <pc:docMk/>
          <pc:sldMk cId="561935081" sldId="313"/>
        </pc:sldMkLst>
        <pc:spChg chg="del">
          <ac:chgData name="Ayush Baral" userId="78af172052bcb1a3" providerId="LiveId" clId="{4C74BEFC-76B5-479E-AB05-9856C1685A19}" dt="2025-04-28T07:46:00.678" v="205" actId="478"/>
          <ac:spMkLst>
            <pc:docMk/>
            <pc:sldMk cId="561935081" sldId="313"/>
            <ac:spMk id="2" creationId="{878DDC55-751D-C2DB-7F73-7D5843E7F608}"/>
          </ac:spMkLst>
        </pc:spChg>
        <pc:spChg chg="del mod">
          <ac:chgData name="Ayush Baral" userId="78af172052bcb1a3" providerId="LiveId" clId="{4C74BEFC-76B5-479E-AB05-9856C1685A19}" dt="2025-04-28T07:47:57.952" v="210"/>
          <ac:spMkLst>
            <pc:docMk/>
            <pc:sldMk cId="561935081" sldId="313"/>
            <ac:spMk id="3" creationId="{E124972F-3610-E9D7-3E2E-AF0AEA518DE9}"/>
          </ac:spMkLst>
        </pc:spChg>
        <pc:spChg chg="add mod">
          <ac:chgData name="Ayush Baral" userId="78af172052bcb1a3" providerId="LiveId" clId="{4C74BEFC-76B5-479E-AB05-9856C1685A19}" dt="2025-04-28T07:51:32.911" v="237" actId="1076"/>
          <ac:spMkLst>
            <pc:docMk/>
            <pc:sldMk cId="561935081" sldId="313"/>
            <ac:spMk id="8" creationId="{DA8637E2-F39C-AA12-9CA9-F10BDF45B080}"/>
          </ac:spMkLst>
        </pc:spChg>
        <pc:spChg chg="add del mod">
          <ac:chgData name="Ayush Baral" userId="78af172052bcb1a3" providerId="LiveId" clId="{4C74BEFC-76B5-479E-AB05-9856C1685A19}" dt="2025-04-28T07:50:58.067" v="233" actId="22"/>
          <ac:spMkLst>
            <pc:docMk/>
            <pc:sldMk cId="561935081" sldId="313"/>
            <ac:spMk id="10" creationId="{5D528AEE-C8C3-080C-DF35-CD7ED109EB33}"/>
          </ac:spMkLst>
        </pc:spChg>
        <pc:picChg chg="add mod">
          <ac:chgData name="Ayush Baral" userId="78af172052bcb1a3" providerId="LiveId" clId="{4C74BEFC-76B5-479E-AB05-9856C1685A19}" dt="2025-04-28T07:51:41.573" v="238" actId="1076"/>
          <ac:picMkLst>
            <pc:docMk/>
            <pc:sldMk cId="561935081" sldId="313"/>
            <ac:picMk id="6" creationId="{276EBCF3-FF34-F2F5-67C9-0909F4E16CBC}"/>
          </ac:picMkLst>
        </pc:picChg>
      </pc:sldChg>
      <pc:sldChg chg="addSp delSp modSp new mod">
        <pc:chgData name="Ayush Baral" userId="78af172052bcb1a3" providerId="LiveId" clId="{4C74BEFC-76B5-479E-AB05-9856C1685A19}" dt="2025-04-28T07:56:56.574" v="281" actId="1076"/>
        <pc:sldMkLst>
          <pc:docMk/>
          <pc:sldMk cId="3849595426" sldId="314"/>
        </pc:sldMkLst>
        <pc:spChg chg="del">
          <ac:chgData name="Ayush Baral" userId="78af172052bcb1a3" providerId="LiveId" clId="{4C74BEFC-76B5-479E-AB05-9856C1685A19}" dt="2025-04-28T07:51:55.118" v="240" actId="478"/>
          <ac:spMkLst>
            <pc:docMk/>
            <pc:sldMk cId="3849595426" sldId="314"/>
            <ac:spMk id="2" creationId="{382BA102-32D0-946F-BCE4-67A2942D546D}"/>
          </ac:spMkLst>
        </pc:spChg>
        <pc:spChg chg="mod">
          <ac:chgData name="Ayush Baral" userId="78af172052bcb1a3" providerId="LiveId" clId="{4C74BEFC-76B5-479E-AB05-9856C1685A19}" dt="2025-04-28T07:56:17.624" v="278" actId="20577"/>
          <ac:spMkLst>
            <pc:docMk/>
            <pc:sldMk cId="3849595426" sldId="314"/>
            <ac:spMk id="3" creationId="{D4822D66-0831-166C-6000-BDCBB4DF1400}"/>
          </ac:spMkLst>
        </pc:spChg>
        <pc:spChg chg="add del mod">
          <ac:chgData name="Ayush Baral" userId="78af172052bcb1a3" providerId="LiveId" clId="{4C74BEFC-76B5-479E-AB05-9856C1685A19}" dt="2025-04-28T07:55:38.377" v="270" actId="22"/>
          <ac:spMkLst>
            <pc:docMk/>
            <pc:sldMk cId="3849595426" sldId="314"/>
            <ac:spMk id="7" creationId="{B8CAA905-898B-2B58-CAB2-691123426DD6}"/>
          </ac:spMkLst>
        </pc:spChg>
        <pc:picChg chg="add mod">
          <ac:chgData name="Ayush Baral" userId="78af172052bcb1a3" providerId="LiveId" clId="{4C74BEFC-76B5-479E-AB05-9856C1685A19}" dt="2025-04-28T07:56:56.574" v="281" actId="1076"/>
          <ac:picMkLst>
            <pc:docMk/>
            <pc:sldMk cId="3849595426" sldId="314"/>
            <ac:picMk id="8" creationId="{11E32C8C-B84D-87F5-DA96-25AF4A15929B}"/>
          </ac:picMkLst>
        </pc:picChg>
      </pc:sldChg>
      <pc:sldChg chg="addSp delSp modSp new mod">
        <pc:chgData name="Ayush Baral" userId="78af172052bcb1a3" providerId="LiveId" clId="{4C74BEFC-76B5-479E-AB05-9856C1685A19}" dt="2025-04-28T07:58:57.215" v="294" actId="1076"/>
        <pc:sldMkLst>
          <pc:docMk/>
          <pc:sldMk cId="2890241707" sldId="315"/>
        </pc:sldMkLst>
        <pc:spChg chg="del">
          <ac:chgData name="Ayush Baral" userId="78af172052bcb1a3" providerId="LiveId" clId="{4C74BEFC-76B5-479E-AB05-9856C1685A19}" dt="2025-04-28T07:57:23.038" v="283" actId="478"/>
          <ac:spMkLst>
            <pc:docMk/>
            <pc:sldMk cId="2890241707" sldId="315"/>
            <ac:spMk id="2" creationId="{BBDFCD51-FCFA-6185-FE0F-A95E7A637E01}"/>
          </ac:spMkLst>
        </pc:spChg>
        <pc:spChg chg="del mod">
          <ac:chgData name="Ayush Baral" userId="78af172052bcb1a3" providerId="LiveId" clId="{4C74BEFC-76B5-479E-AB05-9856C1685A19}" dt="2025-04-28T07:57:58.975" v="287"/>
          <ac:spMkLst>
            <pc:docMk/>
            <pc:sldMk cId="2890241707" sldId="315"/>
            <ac:spMk id="3" creationId="{8BEB5927-2109-B742-1B7B-B5062693D91F}"/>
          </ac:spMkLst>
        </pc:spChg>
        <pc:spChg chg="add mod">
          <ac:chgData name="Ayush Baral" userId="78af172052bcb1a3" providerId="LiveId" clId="{4C74BEFC-76B5-479E-AB05-9856C1685A19}" dt="2025-04-28T07:58:57.215" v="294" actId="1076"/>
          <ac:spMkLst>
            <pc:docMk/>
            <pc:sldMk cId="2890241707" sldId="315"/>
            <ac:spMk id="8" creationId="{C52D319C-B2F0-591D-1312-FE71FEE9CF40}"/>
          </ac:spMkLst>
        </pc:spChg>
        <pc:picChg chg="add mod">
          <ac:chgData name="Ayush Baral" userId="78af172052bcb1a3" providerId="LiveId" clId="{4C74BEFC-76B5-479E-AB05-9856C1685A19}" dt="2025-04-28T07:58:18.048" v="291" actId="1076"/>
          <ac:picMkLst>
            <pc:docMk/>
            <pc:sldMk cId="2890241707" sldId="315"/>
            <ac:picMk id="6" creationId="{8656C621-1E88-1445-F3D8-9EAFD64EE11F}"/>
          </ac:picMkLst>
        </pc:picChg>
      </pc:sldChg>
      <pc:sldChg chg="addSp modSp new mod">
        <pc:chgData name="Ayush Baral" userId="78af172052bcb1a3" providerId="LiveId" clId="{4C74BEFC-76B5-479E-AB05-9856C1685A19}" dt="2025-04-28T08:10:43.964" v="328" actId="14100"/>
        <pc:sldMkLst>
          <pc:docMk/>
          <pc:sldMk cId="3343254890" sldId="316"/>
        </pc:sldMkLst>
        <pc:spChg chg="mod">
          <ac:chgData name="Ayush Baral" userId="78af172052bcb1a3" providerId="LiveId" clId="{4C74BEFC-76B5-479E-AB05-9856C1685A19}" dt="2025-04-28T08:07:09.915" v="305" actId="14100"/>
          <ac:spMkLst>
            <pc:docMk/>
            <pc:sldMk cId="3343254890" sldId="316"/>
            <ac:spMk id="2" creationId="{8F6FC925-9DE7-FA11-4A9C-2498577A7A03}"/>
          </ac:spMkLst>
        </pc:spChg>
        <pc:spChg chg="mod">
          <ac:chgData name="Ayush Baral" userId="78af172052bcb1a3" providerId="LiveId" clId="{4C74BEFC-76B5-479E-AB05-9856C1685A19}" dt="2025-04-28T08:09:03.826" v="317" actId="1076"/>
          <ac:spMkLst>
            <pc:docMk/>
            <pc:sldMk cId="3343254890" sldId="316"/>
            <ac:spMk id="3" creationId="{C369B4F6-8D2A-2D77-F8DA-E0809B3F7D33}"/>
          </ac:spMkLst>
        </pc:spChg>
        <pc:spChg chg="add mod">
          <ac:chgData name="Ayush Baral" userId="78af172052bcb1a3" providerId="LiveId" clId="{4C74BEFC-76B5-479E-AB05-9856C1685A19}" dt="2025-04-28T08:10:31.259" v="327" actId="1076"/>
          <ac:spMkLst>
            <pc:docMk/>
            <pc:sldMk cId="3343254890" sldId="316"/>
            <ac:spMk id="8" creationId="{9866BA5F-D856-C6A7-837D-C729BFDB800A}"/>
          </ac:spMkLst>
        </pc:spChg>
        <pc:picChg chg="add mod">
          <ac:chgData name="Ayush Baral" userId="78af172052bcb1a3" providerId="LiveId" clId="{4C74BEFC-76B5-479E-AB05-9856C1685A19}" dt="2025-04-28T08:10:43.964" v="328" actId="14100"/>
          <ac:picMkLst>
            <pc:docMk/>
            <pc:sldMk cId="3343254890" sldId="316"/>
            <ac:picMk id="6" creationId="{3ECD82DA-C2F4-11A3-C5EB-A662A6E307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CECEA2-B597-4F77-B4E1-0FBA1CC58F44}" type="datetimeFigureOut">
              <a:rPr lang="en-US" smtClean="0"/>
              <a:t>11/2/2025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DC0A33-4079-4DAC-AA57-36B483BEF7D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8DC0A33-4079-4DAC-AA57-36B483BEF7DA}" type="slidenum">
              <a:rPr lang="en-US" smtClean="0"/>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9144000" cy="6597650"/>
          </a:xfrm>
          <a:prstGeom prst="rect">
            <a:avLst/>
          </a:prstGeom>
          <a:noFill/>
          <a:ln w="9525">
            <a:noFill/>
          </a:ln>
        </p:spPr>
      </p:pic>
      <p:sp>
        <p:nvSpPr>
          <p:cNvPr id="2051" name="Rectangle 3"/>
          <p:cNvSpPr>
            <a:spLocks noGrp="1" noChangeArrowheads="1"/>
          </p:cNvSpPr>
          <p:nvPr>
            <p:ph type="ctrTitle"/>
          </p:nvPr>
        </p:nvSpPr>
        <p:spPr>
          <a:xfrm>
            <a:off x="468313" y="620713"/>
            <a:ext cx="8207375" cy="1082675"/>
          </a:xfrm>
        </p:spPr>
        <p:txBody>
          <a:bodyPr/>
          <a:lstStyle>
            <a:lvl1pP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469900" y="1843088"/>
            <a:ext cx="8212138" cy="981075"/>
          </a:xfrm>
        </p:spPr>
        <p:txBody>
          <a:bodyPr/>
          <a:lstStyle>
            <a:lvl1pPr marL="0" indent="0">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4ED51B6-588B-49B6-ADED-D2E54B05D3E2}" type="datetime1">
              <a:rPr lang="en-US" smtClean="0"/>
              <a:t>11/2/2025</a:t>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30A61BE-1BA4-41D7-975A-BF538DEFEF9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195C37-A005-43FB-BB98-F7707FFD8D2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B24F7012-7FD4-4C18-A76B-0F53ED573CE9}"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1D21B4-85FE-459D-A692-97BB7D7CC38D}"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D88595-7C27-4D16-8E6E-36CC544A17EA}"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146BCA-B061-480B-A5D8-AA7F16AA951D}"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62D563-44C2-4DEA-BBE4-787FF661ABA0}"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EE2DF1-62FA-43CC-9276-DA168873D2E0}"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88A7CA-44F3-4D88-840F-652FA9DC36D0}"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3C7213-E46F-4E5A-9F9C-558E349C54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E53555-EAB8-421B-9ECB-0F062206614D}"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0A61BE-1BA4-41D7-975A-BF538DEFEF9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p:cNvPicPr>
          <p:nvPr/>
        </p:nvPicPr>
        <p:blipFill>
          <a:blip r:embed="rId13"/>
          <a:stretch>
            <a:fillRect/>
          </a:stretch>
        </p:blipFill>
        <p:spPr>
          <a:xfrm>
            <a:off x="0" y="0"/>
            <a:ext cx="91440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EA711FC8-E73A-4A0B-85D0-F5924254ABC2}" type="datetime1">
              <a:rPr lang="en-US" smtClean="0"/>
              <a:t>11/2/2025</a:t>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130A61BE-1BA4-41D7-975A-BF538DEFEF9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spcBef>
          <a:spcPct val="0"/>
        </a:spcBef>
        <a:spcAft>
          <a:spcPct val="0"/>
        </a:spcAft>
        <a:defRPr sz="3600" kern="1200">
          <a:solidFill>
            <a:schemeClr val="tx1"/>
          </a:solidFill>
          <a:latin typeface="+mj-lt"/>
          <a:ea typeface="+mj-ea"/>
          <a:cs typeface="+mj-cs"/>
        </a:defRPr>
      </a:lvl1pPr>
      <a:lvl2pPr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eaLnBrk="1" fontAlgn="base" hangingPunct="1">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582613"/>
          </a:xfrm>
        </p:spPr>
        <p:txBody>
          <a:bodyPr/>
          <a:lstStyle/>
          <a:p>
            <a:pPr algn="l"/>
            <a:r>
              <a:rPr lang="en-US" sz="4000" dirty="0">
                <a:latin typeface="Times New Roman" panose="02020603050405020304" pitchFamily="18" charset="0"/>
                <a:cs typeface="Times New Roman" panose="02020603050405020304" pitchFamily="18" charset="0"/>
              </a:rPr>
              <a:t>Content</a:t>
            </a:r>
          </a:p>
        </p:txBody>
      </p:sp>
      <p:sp>
        <p:nvSpPr>
          <p:cNvPr id="3" name="Content Placeholder 2"/>
          <p:cNvSpPr>
            <a:spLocks noGrp="1"/>
          </p:cNvSpPr>
          <p:nvPr>
            <p:ph idx="1"/>
          </p:nvPr>
        </p:nvSpPr>
        <p:spPr>
          <a:xfrm>
            <a:off x="228600" y="762000"/>
            <a:ext cx="8229600" cy="5334000"/>
          </a:xfrm>
        </p:spPr>
        <p:txBody>
          <a:bodyPr>
            <a:noAutofit/>
          </a:bodyPr>
          <a:lstStyle/>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Introduction</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Aim and Objectives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Literature Survey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Problem Definition</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Proposed Solution Strategy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Project Plan</a:t>
            </a:r>
          </a:p>
          <a:p>
            <a:pPr marL="457200" lvl="1" indent="231140">
              <a:buNone/>
            </a:pPr>
            <a:r>
              <a:rPr lang="en-US" sz="1750" dirty="0">
                <a:latin typeface="Times New Roman" panose="02020603050405020304" pitchFamily="18" charset="0"/>
                <a:cs typeface="Times New Roman" panose="02020603050405020304" pitchFamily="18" charset="0"/>
              </a:rPr>
              <a:t>6.1. </a:t>
            </a:r>
            <a:r>
              <a:rPr lang="en-US" sz="1750" dirty="0">
                <a:latin typeface="Times New Roman" panose="02020603050405020304" pitchFamily="18" charset="0"/>
                <a:cs typeface="Times New Roman" panose="02020603050405020304" pitchFamily="18" charset="0"/>
                <a:sym typeface="+mn-ea"/>
              </a:rPr>
              <a:t>H/W &amp; S/W Requirement</a:t>
            </a:r>
            <a:endParaRPr lang="en-US" sz="1710" dirty="0">
              <a:latin typeface="Times New Roman" panose="02020603050405020304" pitchFamily="18" charset="0"/>
              <a:cs typeface="Times New Roman" panose="02020603050405020304" pitchFamily="18" charset="0"/>
              <a:sym typeface="+mn-ea"/>
            </a:endParaRPr>
          </a:p>
          <a:p>
            <a:pPr marL="457200" lvl="2" indent="231140">
              <a:buFont typeface="+mj-lt"/>
              <a:buNone/>
            </a:pPr>
            <a:r>
              <a:rPr lang="en-US" sz="1710" dirty="0">
                <a:latin typeface="Times New Roman" panose="02020603050405020304" pitchFamily="18" charset="0"/>
                <a:cs typeface="Times New Roman" panose="02020603050405020304" pitchFamily="18" charset="0"/>
                <a:sym typeface="+mn-ea"/>
              </a:rPr>
              <a:t>6.2. Design strategy solution</a:t>
            </a:r>
            <a:endParaRPr lang="en-US" sz="1710" dirty="0">
              <a:latin typeface="Times New Roman" panose="02020603050405020304" pitchFamily="18" charset="0"/>
              <a:cs typeface="Times New Roman" panose="02020603050405020304" pitchFamily="18" charset="0"/>
            </a:endParaRPr>
          </a:p>
          <a:p>
            <a:pPr marL="457200" indent="-457200">
              <a:buAutoNum type="arabicPeriod" startAt="7"/>
            </a:pPr>
            <a:r>
              <a:rPr lang="en-US" sz="2000" dirty="0">
                <a:latin typeface="Times New Roman" panose="02020603050405020304" pitchFamily="18" charset="0"/>
                <a:cs typeface="Times New Roman" panose="02020603050405020304" pitchFamily="18" charset="0"/>
              </a:rPr>
              <a:t>Implementation details</a:t>
            </a:r>
          </a:p>
          <a:p>
            <a:pPr marL="457200" indent="-457200">
              <a:buFontTx/>
              <a:buAutoNum type="arabicPeriod" startAt="7"/>
            </a:pPr>
            <a:r>
              <a:rPr lang="en-US" sz="2000" dirty="0">
                <a:latin typeface="Times New Roman" panose="02020603050405020304" pitchFamily="18" charset="0"/>
                <a:cs typeface="Times New Roman" panose="02020603050405020304" pitchFamily="18" charset="0"/>
              </a:rPr>
              <a:t>Results and Discussion </a:t>
            </a:r>
          </a:p>
          <a:p>
            <a:pPr marL="457200" indent="-457200">
              <a:buFontTx/>
              <a:buAutoNum type="arabicPeriod" startAt="7"/>
            </a:pPr>
            <a:r>
              <a:rPr lang="en-US" sz="2000" dirty="0">
                <a:latin typeface="Times New Roman" panose="02020603050405020304" pitchFamily="18" charset="0"/>
                <a:cs typeface="Times New Roman" panose="02020603050405020304" pitchFamily="18" charset="0"/>
                <a:sym typeface="+mn-ea"/>
              </a:rPr>
              <a:t>Conclusion</a:t>
            </a:r>
          </a:p>
          <a:p>
            <a:pPr marL="457200" indent="-457200">
              <a:buFontTx/>
              <a:buAutoNum type="arabicPeriod" startAt="7"/>
            </a:pPr>
            <a:r>
              <a:rPr lang="en-US" sz="2000" dirty="0">
                <a:latin typeface="Times New Roman" panose="02020603050405020304" pitchFamily="18" charset="0"/>
                <a:cs typeface="Times New Roman" panose="02020603050405020304" pitchFamily="18" charset="0"/>
              </a:rPr>
              <a:t>References</a:t>
            </a:r>
          </a:p>
        </p:txBody>
      </p:sp>
      <p:sp>
        <p:nvSpPr>
          <p:cNvPr id="5" name="Slide Number Placeholder 4"/>
          <p:cNvSpPr>
            <a:spLocks noGrp="1"/>
          </p:cNvSpPr>
          <p:nvPr>
            <p:ph type="sldNum" sz="quarter" idx="12"/>
          </p:nvPr>
        </p:nvSpPr>
        <p:spPr/>
        <p:txBody>
          <a:bodyPr/>
          <a:lstStyle/>
          <a:p>
            <a:fld id="{130A61BE-1BA4-41D7-975A-BF538DEFEF9C}"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1. Introduction</a:t>
            </a:r>
          </a:p>
        </p:txBody>
      </p:sp>
      <p:sp>
        <p:nvSpPr>
          <p:cNvPr id="6" name="Rectangle 1"/>
          <p:cNvSpPr>
            <a:spLocks noGrp="1" noChangeArrowheads="1"/>
          </p:cNvSpPr>
          <p:nvPr>
            <p:ph idx="1"/>
          </p:nvPr>
        </p:nvSpPr>
        <p:spPr bwMode="auto">
          <a:xfrm>
            <a:off x="0" y="927001"/>
            <a:ext cx="8839200"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000" dirty="0">
                <a:latin typeface="Times New Roman" panose="02020603050405020304" pitchFamily="18" charset="0"/>
                <a:cs typeface="Times New Roman" panose="02020603050405020304" pitchFamily="18" charset="0"/>
              </a:rPr>
              <a:t>Cervical cancer is a leading cause of cancer-related deaths among women, particularly in developing countries due to limited access to screening. In 2020, over 600,000 new cases and 340,000 deaths were reported globally. Early detection through screenings like colposcopy is essential for managing the disease and preventing its progression.</a:t>
            </a:r>
          </a:p>
          <a:p>
            <a:r>
              <a:rPr lang="en-US" sz="2000" dirty="0">
                <a:latin typeface="Times New Roman" panose="02020603050405020304" pitchFamily="18" charset="0"/>
                <a:cs typeface="Times New Roman" panose="02020603050405020304" pitchFamily="18" charset="0"/>
              </a:rPr>
              <a:t>Colposcopy is a diagnostic procedure that provides a magnified view of the cervix, aiding in the detection of abnormalities. A colposcope, equipped with a light source and lenses, enhances visibility by creating high-resolution images, reducing the need for invasive procedures and enabling early treatment.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30A61BE-1BA4-41D7-975A-BF538DEFEF9C}" type="slidenum">
              <a:rPr lang="en-US" smtClean="0"/>
              <a:t>2</a:t>
            </a:fld>
            <a:endParaRPr lang="en-US"/>
          </a:p>
        </p:txBody>
      </p:sp>
      <p:sp>
        <p:nvSpPr>
          <p:cNvPr id="2" name="Text Box 2">
            <a:extLst>
              <a:ext uri="{FF2B5EF4-FFF2-40B4-BE49-F238E27FC236}">
                <a16:creationId xmlns:a16="http://schemas.microsoft.com/office/drawing/2014/main" id="{0D20DD7C-2D07-4667-886B-73894D35E22F}"/>
              </a:ext>
            </a:extLst>
          </p:cNvPr>
          <p:cNvSpPr txBox="1">
            <a:spLocks noChangeArrowheads="1"/>
          </p:cNvSpPr>
          <p:nvPr/>
        </p:nvSpPr>
        <p:spPr bwMode="auto">
          <a:xfrm>
            <a:off x="123825" y="5951537"/>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pPr>
            <a:r>
              <a:rPr lang="en-IN" sz="1000" b="1" kern="1200">
                <a:solidFill>
                  <a:srgbClr val="000000"/>
                </a:solidFill>
                <a:effectLst/>
                <a:latin typeface="Calibri" panose="020F0502020204030204" pitchFamily="34" charset="0"/>
                <a:ea typeface="TeXGyreHeros-Bold"/>
                <a:cs typeface="Times New Roman" panose="02020603050405020304" pitchFamily="18" charset="0"/>
              </a:rPr>
              <a:t>Figure 1. </a:t>
            </a:r>
            <a:r>
              <a:rPr lang="en-US" sz="1000" b="1" kern="1200">
                <a:solidFill>
                  <a:srgbClr val="000000"/>
                </a:solidFill>
                <a:effectLst/>
                <a:latin typeface="Calibri" panose="020F0502020204030204" pitchFamily="34" charset="0"/>
                <a:ea typeface="TeXGyreHeros-Bold"/>
                <a:cs typeface="Times New Roman" panose="02020603050405020304" pitchFamily="18" charset="0"/>
              </a:rPr>
              <a:t>colposcope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24F1347B-C6C6-FF49-9658-D40B570879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4004767"/>
            <a:ext cx="1715366" cy="1715366"/>
          </a:xfrm>
          <a:prstGeom prst="rect">
            <a:avLst/>
          </a:prstGeom>
        </p:spPr>
      </p:pic>
      <p:pic>
        <p:nvPicPr>
          <p:cNvPr id="8" name="Picture 7" descr="Close-up of a stomach with a small hole&#10;&#10;AI-generated content may be incorrect.">
            <a:extLst>
              <a:ext uri="{FF2B5EF4-FFF2-40B4-BE49-F238E27FC236}">
                <a16:creationId xmlns:a16="http://schemas.microsoft.com/office/drawing/2014/main" id="{3DA6619F-D8B3-22B3-B2E9-E053539DC7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7371" y="4004767"/>
            <a:ext cx="2138414" cy="1715366"/>
          </a:xfrm>
          <a:prstGeom prst="rect">
            <a:avLst/>
          </a:prstGeom>
        </p:spPr>
      </p:pic>
      <p:sp>
        <p:nvSpPr>
          <p:cNvPr id="9" name="Text Box 2">
            <a:extLst>
              <a:ext uri="{FF2B5EF4-FFF2-40B4-BE49-F238E27FC236}">
                <a16:creationId xmlns:a16="http://schemas.microsoft.com/office/drawing/2014/main" id="{1E895F93-C7B7-E124-50CC-A59872F21E87}"/>
              </a:ext>
            </a:extLst>
          </p:cNvPr>
          <p:cNvSpPr txBox="1">
            <a:spLocks noChangeArrowheads="1"/>
          </p:cNvSpPr>
          <p:nvPr/>
        </p:nvSpPr>
        <p:spPr bwMode="auto">
          <a:xfrm>
            <a:off x="5049763" y="5720133"/>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pPr>
            <a:r>
              <a:rPr lang="en-IN" sz="1000" b="1" kern="1200">
                <a:solidFill>
                  <a:srgbClr val="000000"/>
                </a:solidFill>
                <a:effectLst/>
                <a:latin typeface="Calibri" panose="020F0502020204030204" pitchFamily="34" charset="0"/>
                <a:ea typeface="TeXGyreHeros-Bold"/>
                <a:cs typeface="Times New Roman" panose="02020603050405020304" pitchFamily="18" charset="0"/>
              </a:rPr>
              <a:t>Figure 2. Colposcopic Image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7F36-007B-DAA3-5666-3D3A6E82CE0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F7C4872-4F80-479D-30B6-840151D9A56B}"/>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1. Introduction</a:t>
            </a:r>
          </a:p>
        </p:txBody>
      </p:sp>
      <p:sp>
        <p:nvSpPr>
          <p:cNvPr id="6" name="Rectangle 1">
            <a:extLst>
              <a:ext uri="{FF2B5EF4-FFF2-40B4-BE49-F238E27FC236}">
                <a16:creationId xmlns:a16="http://schemas.microsoft.com/office/drawing/2014/main" id="{71D884E4-174A-C006-A067-DB808C028AEF}"/>
              </a:ext>
            </a:extLst>
          </p:cNvPr>
          <p:cNvSpPr>
            <a:spLocks noGrp="1" noChangeArrowheads="1"/>
          </p:cNvSpPr>
          <p:nvPr>
            <p:ph idx="1"/>
          </p:nvPr>
        </p:nvSpPr>
        <p:spPr bwMode="auto">
          <a:xfrm>
            <a:off x="45027" y="294671"/>
            <a:ext cx="8839200"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Specular reflection (SR) appears as bright spots in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 caused by light reflecting off moist cervical surfaces. SR obscures critical details, complicating image analysis and potentially leading to diagnostic errors. Addressing SR involves detecting and inpainting these regions to improve image clarity and diagnostic accuracy.</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Traditional SR detection methods like thresholding are error-prone and struggle with lighting and texture variations. Manual approaches are slow and inconsistent. Our project uses U-Net for SR detection and GANs for inpainting, enabling fast, accurate segmentation and realistic texture reconstruction. This improves diagnostics and scales for clinical use.</a:t>
            </a:r>
          </a:p>
        </p:txBody>
      </p:sp>
      <p:sp>
        <p:nvSpPr>
          <p:cNvPr id="5" name="Slide Number Placeholder 4">
            <a:extLst>
              <a:ext uri="{FF2B5EF4-FFF2-40B4-BE49-F238E27FC236}">
                <a16:creationId xmlns:a16="http://schemas.microsoft.com/office/drawing/2014/main" id="{4E887B6F-1CA3-B12E-B0B4-E7771AA445C6}"/>
              </a:ext>
            </a:extLst>
          </p:cNvPr>
          <p:cNvSpPr>
            <a:spLocks noGrp="1"/>
          </p:cNvSpPr>
          <p:nvPr>
            <p:ph type="sldNum" sz="quarter" idx="12"/>
          </p:nvPr>
        </p:nvSpPr>
        <p:spPr/>
        <p:txBody>
          <a:bodyPr/>
          <a:lstStyle/>
          <a:p>
            <a:fld id="{130A61BE-1BA4-41D7-975A-BF538DEFEF9C}" type="slidenum">
              <a:rPr lang="en-US" smtClean="0"/>
              <a:t>3</a:t>
            </a:fld>
            <a:endParaRPr lang="en-US"/>
          </a:p>
        </p:txBody>
      </p:sp>
      <p:pic>
        <p:nvPicPr>
          <p:cNvPr id="2" name="Picture 1">
            <a:extLst>
              <a:ext uri="{FF2B5EF4-FFF2-40B4-BE49-F238E27FC236}">
                <a16:creationId xmlns:a16="http://schemas.microsoft.com/office/drawing/2014/main" id="{99F93105-D552-3175-AE32-36F340ADE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173" y="2282726"/>
            <a:ext cx="5943600" cy="1840865"/>
          </a:xfrm>
          <a:prstGeom prst="rect">
            <a:avLst/>
          </a:prstGeom>
        </p:spPr>
      </p:pic>
      <p:sp>
        <p:nvSpPr>
          <p:cNvPr id="3" name="Text Box 2">
            <a:extLst>
              <a:ext uri="{FF2B5EF4-FFF2-40B4-BE49-F238E27FC236}">
                <a16:creationId xmlns:a16="http://schemas.microsoft.com/office/drawing/2014/main" id="{8E6585F9-00F2-DBC9-CC05-EAEC74067CC8}"/>
              </a:ext>
            </a:extLst>
          </p:cNvPr>
          <p:cNvSpPr txBox="1">
            <a:spLocks noChangeArrowheads="1"/>
          </p:cNvSpPr>
          <p:nvPr/>
        </p:nvSpPr>
        <p:spPr bwMode="auto">
          <a:xfrm>
            <a:off x="2959158" y="4123818"/>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pPr>
            <a:r>
              <a:rPr lang="en-IN" sz="1000" b="1" kern="1200">
                <a:solidFill>
                  <a:srgbClr val="000000"/>
                </a:solidFill>
                <a:effectLst/>
                <a:latin typeface="Calibri" panose="020F0502020204030204" pitchFamily="34" charset="0"/>
                <a:ea typeface="TeXGyreHeros-Bold"/>
                <a:cs typeface="Times New Roman" panose="02020603050405020304" pitchFamily="18" charset="0"/>
              </a:rPr>
              <a:t>Figure 3. </a:t>
            </a:r>
            <a:r>
              <a:rPr lang="en-US" sz="1000" b="1" kern="1200">
                <a:solidFill>
                  <a:srgbClr val="000000"/>
                </a:solidFill>
                <a:effectLst/>
                <a:latin typeface="Calibri" panose="020F0502020204030204" pitchFamily="34" charset="0"/>
                <a:ea typeface="TeXGyreHeros-Bold"/>
                <a:cs typeface="Times New Roman" panose="02020603050405020304" pitchFamily="18" charset="0"/>
              </a:rPr>
              <a:t>Specular reflection (SR)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66085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2. </a:t>
            </a:r>
            <a:r>
              <a:rPr lang="en-US" sz="4000" dirty="0">
                <a:latin typeface="Times New Roman" panose="02020603050405020304" pitchFamily="18" charset="0"/>
                <a:cs typeface="Times New Roman" panose="02020603050405020304" pitchFamily="18" charset="0"/>
              </a:rPr>
              <a:t>Aim and Objective</a:t>
            </a:r>
          </a:p>
        </p:txBody>
      </p:sp>
      <p:sp>
        <p:nvSpPr>
          <p:cNvPr id="3" name="Content Placeholder 2"/>
          <p:cNvSpPr>
            <a:spLocks noGrp="1"/>
          </p:cNvSpPr>
          <p:nvPr>
            <p:ph idx="1"/>
          </p:nvPr>
        </p:nvSpPr>
        <p:spPr>
          <a:xfrm>
            <a:off x="152400" y="914400"/>
            <a:ext cx="8229600" cy="4911090"/>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    Aim   </a:t>
            </a:r>
            <a:endParaRPr lang="en-US" sz="2000" dirty="0">
              <a:latin typeface="Times New Roman" panose="02020603050405020304" pitchFamily="18" charset="0"/>
              <a:cs typeface="Times New Roman" panose="02020603050405020304" pitchFamily="18" charset="0"/>
            </a:endParaRPr>
          </a:p>
          <a:p>
            <a:pPr lvl="1" algn="just">
              <a:buNone/>
            </a:pPr>
            <a:r>
              <a:rPr lang="en-US" sz="2000" dirty="0">
                <a:latin typeface="Times New Roman" panose="02020603050405020304" pitchFamily="18" charset="0"/>
                <a:cs typeface="Times New Roman" panose="02020603050405020304" pitchFamily="18" charset="0"/>
              </a:rPr>
              <a:t>The aim of this project is to develop an efficient technique to detect and in-paint specular reflections(SR) regions in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a:t>
            </a:r>
          </a:p>
          <a:p>
            <a:pPr marL="0" indent="0" algn="just">
              <a:buNone/>
            </a:pPr>
            <a:r>
              <a:rPr lang="en-US" sz="2000" b="1" dirty="0">
                <a:latin typeface="Times New Roman" panose="02020603050405020304" pitchFamily="18" charset="0"/>
                <a:cs typeface="Times New Roman" panose="02020603050405020304" pitchFamily="18" charset="0"/>
              </a:rPr>
              <a:t>    Objectives</a:t>
            </a:r>
          </a:p>
          <a:p>
            <a:pPr lvl="1"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design and implement approach to accurately detect specular reflection regions in colposcopic images.</a:t>
            </a:r>
          </a:p>
          <a:p>
            <a:pPr lvl="1"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implement a machine learning-based approach for image inpainting to reconstruct the SR areas while preserving anatomical structure and texture.</a:t>
            </a:r>
          </a:p>
          <a:p>
            <a:pPr lvl="1"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evaluate the Performance and accuracy of the model.</a:t>
            </a:r>
            <a:endParaRPr lang="en-US" sz="225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30A61BE-1BA4-41D7-975A-BF538DEFEF9C}"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7"/>
          <p:cNvSpPr>
            <a:spLocks noGrp="1"/>
          </p:cNvSpPr>
          <p:nvPr>
            <p:ph type="title"/>
          </p:nvPr>
        </p:nvSpPr>
        <p:spPr>
          <a:xfrm>
            <a:off x="251520" y="-99392"/>
            <a:ext cx="8229600" cy="582613"/>
          </a:xfrm>
        </p:spPr>
        <p:txBody>
          <a:bodyPr>
            <a:normAutofit fontScale="90000"/>
          </a:bodyPr>
          <a:lstStyle/>
          <a:p>
            <a:pPr marL="285750" algn="l"/>
            <a:r>
              <a:rPr lang="en-US" dirty="0">
                <a:latin typeface="Times New Roman" panose="02020603050405020304" pitchFamily="18" charset="0"/>
                <a:cs typeface="Times New Roman" panose="02020603050405020304" pitchFamily="18" charset="0"/>
              </a:rPr>
              <a:t>3. </a:t>
            </a:r>
            <a:r>
              <a:rPr lang="en-US" sz="4000" dirty="0">
                <a:latin typeface="Times New Roman" panose="02020603050405020304" pitchFamily="18" charset="0"/>
                <a:cs typeface="Times New Roman" panose="02020603050405020304" pitchFamily="18" charset="0"/>
              </a:rPr>
              <a:t>Literature survey</a:t>
            </a:r>
          </a:p>
        </p:txBody>
      </p:sp>
      <p:sp>
        <p:nvSpPr>
          <p:cNvPr id="5" name="Slide Number Placeholder 4"/>
          <p:cNvSpPr>
            <a:spLocks noGrp="1"/>
          </p:cNvSpPr>
          <p:nvPr>
            <p:ph type="sldNum" sz="quarter" idx="12"/>
          </p:nvPr>
        </p:nvSpPr>
        <p:spPr>
          <a:xfrm>
            <a:off x="6989930" y="6471210"/>
            <a:ext cx="2133600" cy="476250"/>
          </a:xfrm>
        </p:spPr>
        <p:txBody>
          <a:bodyPr/>
          <a:lstStyle/>
          <a:p>
            <a:fld id="{130A61BE-1BA4-41D7-975A-BF538DEFEF9C}" type="slidenum">
              <a:rPr lang="en-US" smtClean="0"/>
              <a:t>5</a:t>
            </a:fld>
            <a:endParaRPr lang="en-US"/>
          </a:p>
        </p:txBody>
      </p:sp>
      <p:graphicFrame>
        <p:nvGraphicFramePr>
          <p:cNvPr id="3" name="Table 2"/>
          <p:cNvGraphicFramePr>
            <a:graphicFrameLocks noGrp="1"/>
          </p:cNvGraphicFramePr>
          <p:nvPr/>
        </p:nvGraphicFramePr>
        <p:xfrm>
          <a:off x="179512" y="440555"/>
          <a:ext cx="8784975" cy="5847336"/>
        </p:xfrm>
        <a:graphic>
          <a:graphicData uri="http://schemas.openxmlformats.org/drawingml/2006/table">
            <a:tbl>
              <a:tblPr firstRow="1" firstCol="1" bandRow="1">
                <a:tableStyleId>{5C22544A-7EE6-4342-B048-85BDC9FD1C3A}</a:tableStyleId>
              </a:tblPr>
              <a:tblGrid>
                <a:gridCol w="466500">
                  <a:extLst>
                    <a:ext uri="{9D8B030D-6E8A-4147-A177-3AD203B41FA5}">
                      <a16:colId xmlns:a16="http://schemas.microsoft.com/office/drawing/2014/main" val="20000"/>
                    </a:ext>
                  </a:extLst>
                </a:gridCol>
                <a:gridCol w="2557836">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gridCol w="1944216">
                  <a:extLst>
                    <a:ext uri="{9D8B030D-6E8A-4147-A177-3AD203B41FA5}">
                      <a16:colId xmlns:a16="http://schemas.microsoft.com/office/drawing/2014/main" val="20003"/>
                    </a:ext>
                  </a:extLst>
                </a:gridCol>
                <a:gridCol w="1872207">
                  <a:extLst>
                    <a:ext uri="{9D8B030D-6E8A-4147-A177-3AD203B41FA5}">
                      <a16:colId xmlns:a16="http://schemas.microsoft.com/office/drawing/2014/main" val="20004"/>
                    </a:ext>
                  </a:extLst>
                </a:gridCol>
              </a:tblGrid>
              <a:tr h="392108">
                <a:tc>
                  <a:txBody>
                    <a:bodyPr/>
                    <a:lstStyle/>
                    <a:p>
                      <a:pPr marL="0" marR="0" algn="ctr">
                        <a:lnSpc>
                          <a:spcPct val="115000"/>
                        </a:lnSpc>
                      </a:pPr>
                      <a:r>
                        <a:rPr lang="en-US" sz="1690" baseline="0">
                          <a:effectLst/>
                        </a:rPr>
                        <a:t>Sl.no</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pPr>
                      <a:r>
                        <a:rPr lang="en-US" sz="1690" baseline="0" dirty="0">
                          <a:effectLst/>
                        </a:rPr>
                        <a:t>Title</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pPr>
                      <a:r>
                        <a:rPr lang="en-US" sz="1690" baseline="0" dirty="0">
                          <a:effectLst/>
                        </a:rPr>
                        <a:t>Methodology</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pPr>
                      <a:r>
                        <a:rPr lang="en-US" sz="1690" baseline="0">
                          <a:effectLst/>
                        </a:rPr>
                        <a:t>Research gap</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spcAft>
                          <a:spcPts val="1000"/>
                        </a:spcAft>
                      </a:pPr>
                      <a:r>
                        <a:rPr lang="en-US" sz="1690" baseline="0">
                          <a:effectLst/>
                        </a:rPr>
                        <a:t>Relevance</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0"/>
                  </a:ext>
                </a:extLst>
              </a:tr>
              <a:tr h="926347">
                <a:tc>
                  <a:txBody>
                    <a:bodyPr/>
                    <a:lstStyle/>
                    <a:p>
                      <a:pPr marL="0" marR="0" algn="just">
                        <a:lnSpc>
                          <a:spcPct val="115000"/>
                        </a:lnSpc>
                      </a:pPr>
                      <a:r>
                        <a:rPr lang="en-IN" sz="1690" baseline="0">
                          <a:effectLst/>
                        </a:rPr>
                        <a:t>1.</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dirty="0">
                          <a:effectLst/>
                        </a:rPr>
                        <a:t>Automatic Detection and Inpainting of Specular Reflections for </a:t>
                      </a:r>
                      <a:r>
                        <a:rPr lang="en-IN" sz="1690" baseline="0" dirty="0" err="1">
                          <a:effectLst/>
                        </a:rPr>
                        <a:t>Colposcopic</a:t>
                      </a:r>
                      <a:r>
                        <a:rPr lang="en-IN" sz="1690" baseline="0" dirty="0">
                          <a:effectLst/>
                        </a:rPr>
                        <a:t> Images [1]</a:t>
                      </a:r>
                      <a:endParaRPr lang="en-US" sz="1690" baseline="0" dirty="0">
                        <a:effectLst/>
                      </a:endParaRPr>
                    </a:p>
                    <a:p>
                      <a:pPr marL="0" marR="0" algn="just">
                        <a:lnSpc>
                          <a:spcPct val="115000"/>
                        </a:lnSpc>
                        <a:spcAft>
                          <a:spcPts val="1000"/>
                        </a:spcAft>
                      </a:pPr>
                      <a:r>
                        <a:rPr lang="en-IN" sz="1690" baseline="0" dirty="0">
                          <a:effectLst/>
                        </a:rPr>
                        <a:t>                 </a:t>
                      </a:r>
                      <a:r>
                        <a:rPr lang="en-IN" sz="1690" b="1" baseline="0" dirty="0">
                          <a:effectLst/>
                        </a:rPr>
                        <a:t>(2011)</a:t>
                      </a:r>
                      <a:endParaRPr lang="en-US" sz="1690" b="1"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spcAft>
                          <a:spcPts val="1000"/>
                        </a:spcAft>
                      </a:pPr>
                      <a:r>
                        <a:rPr lang="en-IN" sz="1690" baseline="0">
                          <a:effectLst/>
                        </a:rPr>
                        <a:t>Combined a reflection model with a technique to fill in missing image parts.</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May not work well on all types of cervical images, especially those with varied lighting and colors.</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spcAft>
                          <a:spcPts val="1000"/>
                        </a:spcAft>
                      </a:pPr>
                      <a:r>
                        <a:rPr lang="en-IN" sz="1690" baseline="0">
                          <a:effectLst/>
                        </a:rPr>
                        <a:t>Dichromatic Reflection Model</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1"/>
                  </a:ext>
                </a:extLst>
              </a:tr>
              <a:tr h="776699">
                <a:tc>
                  <a:txBody>
                    <a:bodyPr/>
                    <a:lstStyle/>
                    <a:p>
                      <a:pPr marL="0" marR="0" algn="just">
                        <a:lnSpc>
                          <a:spcPct val="115000"/>
                        </a:lnSpc>
                      </a:pPr>
                      <a:r>
                        <a:rPr lang="en-IN" sz="1690" baseline="0">
                          <a:effectLst/>
                        </a:rPr>
                        <a:t>2.</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dirty="0">
                          <a:effectLst/>
                        </a:rPr>
                        <a:t>Detection and Inpainting of Specular Reflection in </a:t>
                      </a:r>
                      <a:r>
                        <a:rPr lang="en-IN" sz="1690" baseline="0" dirty="0" err="1">
                          <a:effectLst/>
                        </a:rPr>
                        <a:t>Colposcopic</a:t>
                      </a:r>
                      <a:r>
                        <a:rPr lang="en-IN" sz="1690" baseline="0" dirty="0">
                          <a:effectLst/>
                        </a:rPr>
                        <a:t> Images.[2]</a:t>
                      </a:r>
                      <a:endParaRPr lang="en-US" sz="1690" baseline="0" dirty="0">
                        <a:effectLst/>
                      </a:endParaRPr>
                    </a:p>
                    <a:p>
                      <a:pPr marL="0" marR="0" algn="ctr">
                        <a:lnSpc>
                          <a:spcPct val="115000"/>
                        </a:lnSpc>
                      </a:pPr>
                      <a:r>
                        <a:rPr lang="en-IN" sz="1690" b="1" baseline="0" dirty="0">
                          <a:effectLst/>
                        </a:rPr>
                        <a:t>(2019)</a:t>
                      </a:r>
                      <a:endParaRPr lang="en-US" sz="1690" b="1"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Used a method to detect and fill in bright areas in cervical images.</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Ineffective for brighter regions with complex tissues.</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spcAft>
                          <a:spcPts val="1000"/>
                        </a:spcAft>
                      </a:pPr>
                      <a:r>
                        <a:rPr lang="en-IN" sz="1690" baseline="0">
                          <a:effectLst/>
                        </a:rPr>
                        <a:t>Exemplar-based Method</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2"/>
                  </a:ext>
                </a:extLst>
              </a:tr>
              <a:tr h="1466727">
                <a:tc>
                  <a:txBody>
                    <a:bodyPr/>
                    <a:lstStyle/>
                    <a:p>
                      <a:pPr marL="0" marR="0" algn="just">
                        <a:lnSpc>
                          <a:spcPct val="115000"/>
                        </a:lnSpc>
                      </a:pPr>
                      <a:r>
                        <a:rPr lang="en-IN" sz="1690" baseline="0">
                          <a:effectLst/>
                        </a:rPr>
                        <a:t>3.</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dirty="0">
                          <a:effectLst/>
                        </a:rPr>
                        <a:t>Specular Reflections Removal in </a:t>
                      </a:r>
                      <a:r>
                        <a:rPr lang="en-IN" sz="1690" baseline="0" dirty="0" err="1">
                          <a:effectLst/>
                        </a:rPr>
                        <a:t>Colposcopic</a:t>
                      </a:r>
                      <a:r>
                        <a:rPr lang="en-IN" sz="1690" baseline="0" dirty="0">
                          <a:effectLst/>
                        </a:rPr>
                        <a:t> Images Based on Neural </a:t>
                      </a:r>
                      <a:r>
                        <a:rPr lang="en-IN" sz="1690" baseline="0" dirty="0" err="1">
                          <a:effectLst/>
                        </a:rPr>
                        <a:t>Networks:Supervised</a:t>
                      </a:r>
                      <a:r>
                        <a:rPr lang="en-IN" sz="1690" baseline="0" dirty="0">
                          <a:effectLst/>
                        </a:rPr>
                        <a:t> training with no ground truth previous knowledge [3]</a:t>
                      </a:r>
                      <a:endParaRPr lang="en-US" sz="1690" baseline="0" dirty="0">
                        <a:effectLst/>
                      </a:endParaRPr>
                    </a:p>
                    <a:p>
                      <a:pPr marL="0" marR="0" algn="ctr">
                        <a:lnSpc>
                          <a:spcPct val="115000"/>
                        </a:lnSpc>
                      </a:pPr>
                      <a:r>
                        <a:rPr lang="en-IN" sz="1690" b="1" baseline="0" dirty="0">
                          <a:effectLst/>
                        </a:rPr>
                        <a:t>(2021)</a:t>
                      </a:r>
                      <a:endParaRPr lang="en-US" sz="1690" b="1"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Applied neural networks to identify and remove bright spots without prior knowledge.</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May require more training to retain underlying anatomical structure.</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spcAft>
                          <a:spcPts val="1000"/>
                        </a:spcAft>
                      </a:pPr>
                      <a:r>
                        <a:rPr lang="en-IN" sz="1690" baseline="0" dirty="0">
                          <a:effectLst/>
                        </a:rPr>
                        <a:t>Proposed method may be used to estimate the unobserved anatomical cervix portion under the bright zones</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3"/>
                  </a:ext>
                </a:extLst>
              </a:tr>
            </a:tbl>
          </a:graphicData>
        </a:graphic>
      </p:graphicFrame>
      <p:sp>
        <p:nvSpPr>
          <p:cNvPr id="8" name="Text Box 1"/>
          <p:cNvSpPr txBox="1"/>
          <p:nvPr/>
        </p:nvSpPr>
        <p:spPr>
          <a:xfrm>
            <a:off x="3197710" y="191914"/>
            <a:ext cx="3792220" cy="269875"/>
          </a:xfrm>
          <a:prstGeom prst="rect">
            <a:avLst/>
          </a:prstGeom>
        </p:spPr>
        <p:txBody>
          <a:bodyPr wrap="square">
            <a:noAutofit/>
          </a:bodyPr>
          <a:lstStyle/>
          <a:p>
            <a:pPr marL="0" marR="0" algn="ctr">
              <a:lnSpc>
                <a:spcPct val="115000"/>
              </a:lnSpc>
              <a:spcAft>
                <a:spcPts val="1000"/>
              </a:spcAft>
            </a:pP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Table 1.Literature survey</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78541" y="-26894"/>
            <a:ext cx="8229600" cy="582613"/>
          </a:xfrm>
        </p:spPr>
        <p:txBody>
          <a:bodyPr/>
          <a:lstStyle/>
          <a:p>
            <a:pPr marL="341630" algn="l"/>
            <a:r>
              <a:rPr lang="en-US" dirty="0">
                <a:latin typeface="Times New Roman" panose="02020603050405020304" pitchFamily="18" charset="0"/>
                <a:cs typeface="Times New Roman" panose="02020603050405020304" pitchFamily="18" charset="0"/>
              </a:rPr>
              <a:t>3. </a:t>
            </a:r>
            <a:r>
              <a:rPr lang="en-US" sz="4000" dirty="0">
                <a:latin typeface="Times New Roman" panose="02020603050405020304" pitchFamily="18" charset="0"/>
                <a:cs typeface="Times New Roman" panose="02020603050405020304" pitchFamily="18" charset="0"/>
              </a:rPr>
              <a:t>Literature survey</a:t>
            </a:r>
          </a:p>
        </p:txBody>
      </p:sp>
      <p:sp>
        <p:nvSpPr>
          <p:cNvPr id="5" name="Slide Number Placeholder 4"/>
          <p:cNvSpPr>
            <a:spLocks noGrp="1"/>
          </p:cNvSpPr>
          <p:nvPr>
            <p:ph type="sldNum" sz="quarter" idx="12"/>
          </p:nvPr>
        </p:nvSpPr>
        <p:spPr/>
        <p:txBody>
          <a:bodyPr/>
          <a:lstStyle/>
          <a:p>
            <a:fld id="{130A61BE-1BA4-41D7-975A-BF538DEFEF9C}" type="slidenum">
              <a:rPr lang="en-US" smtClean="0"/>
              <a:t>6</a:t>
            </a:fld>
            <a:endParaRPr lang="en-US"/>
          </a:p>
        </p:txBody>
      </p:sp>
      <p:graphicFrame>
        <p:nvGraphicFramePr>
          <p:cNvPr id="2" name="Table 1"/>
          <p:cNvGraphicFramePr>
            <a:graphicFrameLocks noGrp="1"/>
          </p:cNvGraphicFramePr>
          <p:nvPr/>
        </p:nvGraphicFramePr>
        <p:xfrm>
          <a:off x="111823" y="555719"/>
          <a:ext cx="8640960" cy="5273994"/>
        </p:xfrm>
        <a:graphic>
          <a:graphicData uri="http://schemas.openxmlformats.org/drawingml/2006/table">
            <a:tbl>
              <a:tblPr firstRow="1" firstCol="1" bandRow="1">
                <a:tableStyleId>{5C22544A-7EE6-4342-B048-85BDC9FD1C3A}</a:tableStyleId>
              </a:tblPr>
              <a:tblGrid>
                <a:gridCol w="458851">
                  <a:extLst>
                    <a:ext uri="{9D8B030D-6E8A-4147-A177-3AD203B41FA5}">
                      <a16:colId xmlns:a16="http://schemas.microsoft.com/office/drawing/2014/main" val="20000"/>
                    </a:ext>
                  </a:extLst>
                </a:gridCol>
                <a:gridCol w="2392881">
                  <a:extLst>
                    <a:ext uri="{9D8B030D-6E8A-4147-A177-3AD203B41FA5}">
                      <a16:colId xmlns:a16="http://schemas.microsoft.com/office/drawing/2014/main" val="20001"/>
                    </a:ext>
                  </a:extLst>
                </a:gridCol>
                <a:gridCol w="2006932">
                  <a:extLst>
                    <a:ext uri="{9D8B030D-6E8A-4147-A177-3AD203B41FA5}">
                      <a16:colId xmlns:a16="http://schemas.microsoft.com/office/drawing/2014/main" val="20002"/>
                    </a:ext>
                  </a:extLst>
                </a:gridCol>
                <a:gridCol w="2238503">
                  <a:extLst>
                    <a:ext uri="{9D8B030D-6E8A-4147-A177-3AD203B41FA5}">
                      <a16:colId xmlns:a16="http://schemas.microsoft.com/office/drawing/2014/main" val="20003"/>
                    </a:ext>
                  </a:extLst>
                </a:gridCol>
                <a:gridCol w="1543793">
                  <a:extLst>
                    <a:ext uri="{9D8B030D-6E8A-4147-A177-3AD203B41FA5}">
                      <a16:colId xmlns:a16="http://schemas.microsoft.com/office/drawing/2014/main" val="20004"/>
                    </a:ext>
                  </a:extLst>
                </a:gridCol>
              </a:tblGrid>
              <a:tr h="216024">
                <a:tc>
                  <a:txBody>
                    <a:bodyPr/>
                    <a:lstStyle/>
                    <a:p>
                      <a:pPr marL="0" marR="0" algn="ctr">
                        <a:lnSpc>
                          <a:spcPct val="115000"/>
                        </a:lnSpc>
                      </a:pPr>
                      <a:r>
                        <a:rPr lang="en-US" sz="1690" baseline="0">
                          <a:effectLst/>
                        </a:rPr>
                        <a:t>Sl.no</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pPr>
                      <a:r>
                        <a:rPr lang="en-US" sz="1690" baseline="0" dirty="0">
                          <a:effectLst/>
                        </a:rPr>
                        <a:t>Title</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pPr>
                      <a:r>
                        <a:rPr lang="en-US" sz="1690" baseline="0">
                          <a:effectLst/>
                        </a:rPr>
                        <a:t>Methodology</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pPr>
                      <a:r>
                        <a:rPr lang="en-US" sz="1690" baseline="0">
                          <a:effectLst/>
                        </a:rPr>
                        <a:t>Research gap</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ctr">
                        <a:lnSpc>
                          <a:spcPct val="115000"/>
                        </a:lnSpc>
                        <a:spcAft>
                          <a:spcPts val="1000"/>
                        </a:spcAft>
                      </a:pPr>
                      <a:r>
                        <a:rPr lang="en-US" sz="1690" baseline="0">
                          <a:effectLst/>
                        </a:rPr>
                        <a:t>Relevance</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0"/>
                  </a:ext>
                </a:extLst>
              </a:tr>
              <a:tr h="1805586">
                <a:tc>
                  <a:txBody>
                    <a:bodyPr/>
                    <a:lstStyle/>
                    <a:p>
                      <a:pPr marL="0" marR="0" algn="just">
                        <a:lnSpc>
                          <a:spcPct val="115000"/>
                        </a:lnSpc>
                      </a:pPr>
                      <a:r>
                        <a:rPr lang="en-IN" sz="1690" baseline="0">
                          <a:effectLst/>
                        </a:rPr>
                        <a:t>4.</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dirty="0">
                          <a:effectLst/>
                        </a:rPr>
                        <a:t>Elimination of Specular Reflection and Identification of ROI in Digital Colposcopy.[4]</a:t>
                      </a:r>
                      <a:endParaRPr lang="en-US" sz="1690" baseline="0" dirty="0">
                        <a:effectLst/>
                      </a:endParaRPr>
                    </a:p>
                    <a:p>
                      <a:pPr marL="0" marR="0" algn="just">
                        <a:lnSpc>
                          <a:spcPct val="115000"/>
                        </a:lnSpc>
                      </a:pPr>
                      <a:r>
                        <a:rPr lang="en-IN" sz="1690" baseline="0" dirty="0">
                          <a:effectLst/>
                        </a:rPr>
                        <a:t> </a:t>
                      </a:r>
                      <a:endParaRPr lang="en-US" sz="1690" baseline="0" dirty="0">
                        <a:effectLst/>
                      </a:endParaRPr>
                    </a:p>
                    <a:p>
                      <a:pPr marL="0" marR="0" algn="ctr">
                        <a:lnSpc>
                          <a:spcPct val="115000"/>
                        </a:lnSpc>
                      </a:pPr>
                      <a:r>
                        <a:rPr lang="en-IN" sz="1690" baseline="0" dirty="0">
                          <a:effectLst/>
                        </a:rPr>
                        <a:t>(2011)</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dirty="0">
                          <a:effectLst/>
                        </a:rPr>
                        <a:t>Developed a technique to remove bright spots and focus on relevant image areas.</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Proposedmethod may not effectively handle images with uneven lighting or those taken from different angles.</a:t>
                      </a:r>
                      <a:endParaRPr lang="en-US" sz="1690" baseline="0">
                        <a:effectLst/>
                      </a:endParaRPr>
                    </a:p>
                    <a:p>
                      <a:pPr marL="0" marR="0" algn="just">
                        <a:lnSpc>
                          <a:spcPct val="115000"/>
                        </a:lnSpc>
                      </a:pPr>
                      <a:r>
                        <a:rPr lang="en-IN" sz="1690" baseline="0">
                          <a:effectLst/>
                        </a:rPr>
                        <a:t> </a:t>
                      </a:r>
                      <a:endParaRPr lang="en-US" sz="1690" baseline="0">
                        <a:effectLst/>
                      </a:endParaRPr>
                    </a:p>
                    <a:p>
                      <a:pPr marL="0" marR="0" algn="just">
                        <a:lnSpc>
                          <a:spcPct val="115000"/>
                        </a:lnSpc>
                      </a:pPr>
                      <a:r>
                        <a:rPr lang="en-IN" sz="1690" baseline="0">
                          <a:effectLst/>
                        </a:rPr>
                        <a:t> </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spcAft>
                          <a:spcPts val="1000"/>
                        </a:spcAft>
                      </a:pPr>
                      <a:r>
                        <a:rPr lang="en-IN" sz="1690" baseline="0" dirty="0">
                          <a:effectLst/>
                        </a:rPr>
                        <a:t>Laplace’s equation.</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1"/>
                  </a:ext>
                </a:extLst>
              </a:tr>
              <a:tr h="2209710">
                <a:tc>
                  <a:txBody>
                    <a:bodyPr/>
                    <a:lstStyle/>
                    <a:p>
                      <a:pPr marL="0" marR="0" algn="just">
                        <a:lnSpc>
                          <a:spcPct val="115000"/>
                        </a:lnSpc>
                      </a:pPr>
                      <a:r>
                        <a:rPr lang="en-IN" sz="1690" baseline="0">
                          <a:effectLst/>
                        </a:rPr>
                        <a:t>5.</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Specular Reflection Analysis and Image Denoising in Cervix Images.[5]</a:t>
                      </a:r>
                      <a:endParaRPr lang="en-US" sz="1690" baseline="0">
                        <a:effectLst/>
                      </a:endParaRPr>
                    </a:p>
                    <a:p>
                      <a:pPr marL="0" marR="0" algn="just">
                        <a:lnSpc>
                          <a:spcPct val="115000"/>
                        </a:lnSpc>
                      </a:pPr>
                      <a:r>
                        <a:rPr lang="en-IN" sz="1690" baseline="0">
                          <a:effectLst/>
                        </a:rPr>
                        <a:t> </a:t>
                      </a:r>
                      <a:endParaRPr lang="en-US" sz="1690" baseline="0">
                        <a:effectLst/>
                      </a:endParaRPr>
                    </a:p>
                    <a:p>
                      <a:pPr marL="0" marR="0" algn="ctr">
                        <a:lnSpc>
                          <a:spcPct val="115000"/>
                        </a:lnSpc>
                      </a:pPr>
                      <a:r>
                        <a:rPr lang="en-IN" sz="1690" baseline="0">
                          <a:effectLst/>
                        </a:rPr>
                        <a:t>(2023)</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Analyzed and reduced bright spots to enhance image quality.</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pPr>
                      <a:r>
                        <a:rPr lang="en-IN" sz="1690" baseline="0">
                          <a:effectLst/>
                        </a:rPr>
                        <a:t>Proposed technique uses a fixed brightness threshold to identify bright spots, which might not work well for all images due to differences in lighting and camera settings.</a:t>
                      </a:r>
                      <a:endParaRPr lang="en-US" sz="1690" baseline="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tc>
                  <a:txBody>
                    <a:bodyPr/>
                    <a:lstStyle/>
                    <a:p>
                      <a:pPr marL="0" marR="0" algn="just">
                        <a:lnSpc>
                          <a:spcPct val="115000"/>
                        </a:lnSpc>
                        <a:spcAft>
                          <a:spcPts val="1000"/>
                        </a:spcAft>
                      </a:pPr>
                      <a:r>
                        <a:rPr lang="en-IN" sz="1690" baseline="0" dirty="0">
                          <a:effectLst/>
                        </a:rPr>
                        <a:t>Threshold and gradient calculation.</a:t>
                      </a:r>
                      <a:endParaRPr lang="en-US" sz="1690" baseline="0" dirty="0">
                        <a:effectLst/>
                        <a:latin typeface="Calibri" panose="020F0502020204030204" pitchFamily="34" charset="0"/>
                        <a:ea typeface="SimSun" panose="02010600030101010101" pitchFamily="2" charset="-122"/>
                        <a:cs typeface="Times New Roman" panose="02020603050405020304" pitchFamily="18" charset="0"/>
                      </a:endParaRPr>
                    </a:p>
                  </a:txBody>
                  <a:tcPr marL="33973" marR="33973"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30A61BE-1BA4-41D7-975A-BF538DEFEF9C}" type="slidenum">
              <a:rPr lang="en-US" smtClean="0"/>
              <a:t>7</a:t>
            </a:fld>
            <a:endParaRPr lang="en-US"/>
          </a:p>
        </p:txBody>
      </p:sp>
      <p:sp>
        <p:nvSpPr>
          <p:cNvPr id="2" name="Title 1"/>
          <p:cNvSpPr>
            <a:spLocks noGrp="1"/>
          </p:cNvSpPr>
          <p:nvPr>
            <p:ph type="ctrTitle" idx="4294967295"/>
          </p:nvPr>
        </p:nvSpPr>
        <p:spPr>
          <a:xfrm>
            <a:off x="-258763" y="-857250"/>
            <a:ext cx="9402763" cy="7413625"/>
          </a:xfrm>
        </p:spPr>
        <p:txBody>
          <a:bodyPr>
            <a:normAutofit/>
          </a:bodyPr>
          <a:lstStyle/>
          <a:p>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endParaRPr lang="en-US" dirty="0"/>
          </a:p>
        </p:txBody>
      </p:sp>
      <p:sp>
        <p:nvSpPr>
          <p:cNvPr id="3" name="Subtitle 2"/>
          <p:cNvSpPr>
            <a:spLocks noGrp="1"/>
          </p:cNvSpPr>
          <p:nvPr>
            <p:ph type="subTitle" idx="4294967295"/>
          </p:nvPr>
        </p:nvSpPr>
        <p:spPr>
          <a:xfrm>
            <a:off x="160338" y="836295"/>
            <a:ext cx="8983662" cy="6784975"/>
          </a:xfrm>
        </p:spPr>
        <p:txBody>
          <a:bodyPr/>
          <a:lstStyle/>
          <a:p>
            <a:pPr marL="0" marR="0" algn="just">
              <a:buFont typeface="Arial" panose="020B0604020202020204" pitchFamily="34" charset="0"/>
              <a:buChar char="•"/>
            </a:pPr>
            <a:r>
              <a:rPr lang="en-US" sz="1800" b="1" dirty="0">
                <a:solidFill>
                  <a:schemeClr val="tx1"/>
                </a:solidFill>
                <a:effectLst/>
                <a:latin typeface="Times New Roman" panose="02020603050405020304" pitchFamily="18" charset="0"/>
                <a:ea typeface="SimSun" panose="02010600030101010101" pitchFamily="2" charset="-122"/>
              </a:rPr>
              <a:t>Specular Reflection Detection: </a:t>
            </a:r>
          </a:p>
          <a:p>
            <a:pPr marL="292100" marR="0" lvl="1" indent="0" algn="just">
              <a:buNone/>
            </a:pPr>
            <a:r>
              <a:rPr lang="en-US" altLang="en-US" sz="1800" dirty="0">
                <a:solidFill>
                  <a:schemeClr val="tx1"/>
                </a:solidFill>
                <a:effectLst/>
                <a:latin typeface="Times New Roman" panose="02020603050405020304" pitchFamily="18" charset="0"/>
                <a:ea typeface="SimSun" panose="02010600030101010101" pitchFamily="2" charset="-122"/>
              </a:rPr>
              <a:t>Specular reflections caused by light reflection on moist tissue surfaces obscure important details in </a:t>
            </a:r>
            <a:r>
              <a:rPr lang="en-US" altLang="en-US" sz="1800" dirty="0" err="1">
                <a:solidFill>
                  <a:schemeClr val="tx1"/>
                </a:solidFill>
                <a:effectLst/>
                <a:latin typeface="Times New Roman" panose="02020603050405020304" pitchFamily="18" charset="0"/>
                <a:ea typeface="SimSun" panose="02010600030101010101" pitchFamily="2" charset="-122"/>
              </a:rPr>
              <a:t>colposcopic</a:t>
            </a:r>
            <a:r>
              <a:rPr lang="en-US" altLang="en-US" sz="1800" dirty="0">
                <a:solidFill>
                  <a:schemeClr val="tx1"/>
                </a:solidFill>
                <a:effectLst/>
                <a:latin typeface="Times New Roman" panose="02020603050405020304" pitchFamily="18" charset="0"/>
                <a:ea typeface="SimSun" panose="02010600030101010101" pitchFamily="2" charset="-122"/>
              </a:rPr>
              <a:t> images, making it difficult for clinicians toassess the cervix accurately. </a:t>
            </a:r>
            <a:r>
              <a:rPr lang="en-US" sz="1800" dirty="0">
                <a:solidFill>
                  <a:schemeClr val="tx1"/>
                </a:solidFill>
                <a:effectLst/>
                <a:latin typeface="Times New Roman" panose="02020603050405020304" pitchFamily="18" charset="0"/>
                <a:ea typeface="SimSun" panose="02010600030101010101" pitchFamily="2" charset="-122"/>
              </a:rPr>
              <a:t> </a:t>
            </a:r>
          </a:p>
          <a:p>
            <a:pPr marL="0" marR="0" algn="just">
              <a:buFont typeface="Arial" panose="020B0604020202020204" pitchFamily="34" charset="0"/>
              <a:buChar char="•"/>
            </a:pPr>
            <a:r>
              <a:rPr lang="en-US" sz="1800" b="1" dirty="0">
                <a:solidFill>
                  <a:schemeClr val="tx1"/>
                </a:solidFill>
                <a:effectLst/>
                <a:latin typeface="Times New Roman" panose="02020603050405020304" pitchFamily="18" charset="0"/>
                <a:ea typeface="SimSun" panose="02010600030101010101" pitchFamily="2" charset="-122"/>
              </a:rPr>
              <a:t>Image Quality Degradation:</a:t>
            </a:r>
          </a:p>
          <a:p>
            <a:pPr marL="396875" marR="0" lvl="1" indent="-225425" algn="just">
              <a:buNone/>
            </a:pPr>
            <a:r>
              <a:rPr lang="en-US" sz="1800" dirty="0">
                <a:solidFill>
                  <a:schemeClr val="tx1"/>
                </a:solidFill>
                <a:effectLst/>
                <a:latin typeface="Times New Roman" panose="02020603050405020304" pitchFamily="18" charset="0"/>
                <a:ea typeface="SimSun" panose="02010600030101010101" pitchFamily="2" charset="-122"/>
              </a:rPr>
              <a:t>    Reflections lead to image distortion, reducing the overall quality and reliability of the images used for diagnosis and automated analysis. </a:t>
            </a:r>
          </a:p>
          <a:p>
            <a:pPr marL="0" marR="0" algn="just">
              <a:buFont typeface="Arial" panose="020B0604020202020204" pitchFamily="34" charset="0"/>
              <a:buChar char="•"/>
            </a:pPr>
            <a:r>
              <a:rPr lang="en-US" sz="1800" b="1" dirty="0">
                <a:solidFill>
                  <a:schemeClr val="tx1"/>
                </a:solidFill>
                <a:effectLst/>
                <a:latin typeface="Times New Roman" panose="02020603050405020304" pitchFamily="18" charset="0"/>
                <a:ea typeface="SimSun" panose="02010600030101010101" pitchFamily="2" charset="-122"/>
              </a:rPr>
              <a:t>Inpainting Challenge:</a:t>
            </a:r>
          </a:p>
          <a:p>
            <a:pPr marL="358775" marR="0" lvl="1" indent="-14288" algn="just">
              <a:buNone/>
            </a:pPr>
            <a:r>
              <a:rPr lang="en-US" altLang="en-US" sz="1800" dirty="0">
                <a:solidFill>
                  <a:schemeClr val="tx1"/>
                </a:solidFill>
                <a:effectLst/>
                <a:latin typeface="Times New Roman" panose="02020603050405020304" pitchFamily="18" charset="0"/>
                <a:ea typeface="SimSun" panose="02010600030101010101" pitchFamily="2" charset="-122"/>
              </a:rPr>
              <a:t>Reconstructing the affected areas without distorting surrounding tissue structures is a complex task, requiring advanced inpainting algorithms that preserve anatomical structure. </a:t>
            </a:r>
            <a:r>
              <a:rPr lang="en-US" sz="1800" b="1" dirty="0">
                <a:latin typeface="Times New Roman" panose="02020603050405020304" pitchFamily="18" charset="0"/>
                <a:ea typeface="SimSun" panose="02010600030101010101" pitchFamily="2" charset="-122"/>
              </a:rPr>
              <a:t>  </a:t>
            </a:r>
          </a:p>
          <a:p>
            <a:pPr marL="358775" marR="0" lvl="1" algn="just">
              <a:buFont typeface="Arial" panose="020B0604020202020204" pitchFamily="34" charset="0"/>
              <a:buChar char="•"/>
            </a:pPr>
            <a:r>
              <a:rPr lang="en-US" sz="1800" b="1" dirty="0">
                <a:solidFill>
                  <a:schemeClr val="tx1"/>
                </a:solidFill>
                <a:effectLst/>
                <a:latin typeface="Times New Roman" panose="02020603050405020304" pitchFamily="18" charset="0"/>
                <a:ea typeface="SimSun" panose="02010600030101010101" pitchFamily="2" charset="-122"/>
              </a:rPr>
              <a:t>  Limited Existing Machine Learning techniques:</a:t>
            </a:r>
          </a:p>
          <a:p>
            <a:pPr marL="358775" marR="0" lvl="1" algn="just">
              <a:buNone/>
            </a:pPr>
            <a:r>
              <a:rPr lang="en-US" altLang="en-US" sz="1800" b="1" dirty="0">
                <a:latin typeface="Times New Roman" panose="02020603050405020304" pitchFamily="18" charset="0"/>
                <a:ea typeface="SimSun" panose="02010600030101010101" pitchFamily="2" charset="-122"/>
              </a:rPr>
              <a:t>      </a:t>
            </a:r>
            <a:r>
              <a:rPr lang="en-US" altLang="en-US" sz="1800" dirty="0">
                <a:solidFill>
                  <a:schemeClr val="tx1"/>
                </a:solidFill>
                <a:effectLst/>
                <a:latin typeface="Times New Roman" panose="02020603050405020304" pitchFamily="18" charset="0"/>
                <a:ea typeface="SimSun" panose="02010600030101010101" pitchFamily="2" charset="-122"/>
              </a:rPr>
              <a:t>Current methods for dealing with specular reflections show limited effectiveness.</a:t>
            </a:r>
          </a:p>
        </p:txBody>
      </p:sp>
      <p:sp>
        <p:nvSpPr>
          <p:cNvPr id="7" name="Title 1"/>
          <p:cNvSpPr>
            <a:spLocks noGrp="1"/>
          </p:cNvSpPr>
          <p:nvPr/>
        </p:nvSpPr>
        <p:spPr>
          <a:xfrm>
            <a:off x="285720" y="0"/>
            <a:ext cx="8229600" cy="92867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76530" algn="l"/>
            <a:r>
              <a:rPr lang="en-US" sz="4000" dirty="0">
                <a:latin typeface="Times New Roman" panose="02020603050405020304" pitchFamily="18" charset="0"/>
                <a:cs typeface="Times New Roman" panose="02020603050405020304" pitchFamily="18" charset="0"/>
              </a:rPr>
              <a:t>4. Problem Definition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nvSpPr>
        <p:spPr>
          <a:xfrm>
            <a:off x="168592" y="188118"/>
            <a:ext cx="8229600" cy="582613"/>
          </a:xfrm>
          <a:prstGeom prst="rect">
            <a:avLst/>
          </a:prstGeom>
          <a:noFill/>
          <a:ln w="9525">
            <a:noFill/>
          </a:ln>
        </p:spPr>
        <p:txBody>
          <a:bodyPr vert="horz" lIns="91440" tIns="45720" rIns="91440" bIns="45720" rtlCol="0"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285750" algn="l" fontAlgn="base">
              <a:lnSpc>
                <a:spcPct val="90000"/>
              </a:lnSpc>
              <a:spcAft>
                <a:spcPts val="600"/>
              </a:spcAft>
            </a:pPr>
            <a:r>
              <a:rPr lang="en-US" sz="4000" kern="1200" dirty="0">
                <a:latin typeface="+mj-lt"/>
                <a:ea typeface="+mj-ea"/>
                <a:cs typeface="+mj-cs"/>
              </a:rPr>
              <a:t>5. Proposed Solution Strategy</a:t>
            </a:r>
          </a:p>
        </p:txBody>
      </p:sp>
      <p:sp>
        <p:nvSpPr>
          <p:cNvPr id="3" name="Subtitle 2"/>
          <p:cNvSpPr>
            <a:spLocks noGrp="1"/>
          </p:cNvSpPr>
          <p:nvPr>
            <p:ph sz="half" idx="1"/>
          </p:nvPr>
        </p:nvSpPr>
        <p:spPr>
          <a:xfrm>
            <a:off x="457199" y="1174750"/>
            <a:ext cx="5818910" cy="4953000"/>
          </a:xfrm>
        </p:spPr>
        <p:txBody>
          <a:bodyPr>
            <a:normAutofit/>
          </a:bodyPr>
          <a:lstStyle/>
          <a:p>
            <a:pPr marL="0" marR="0">
              <a:lnSpc>
                <a:spcPct val="90000"/>
              </a:lnSpc>
            </a:pPr>
            <a:endParaRPr lang="en-US" sz="2000" dirty="0">
              <a:effectLst/>
            </a:endParaRPr>
          </a:p>
          <a:p>
            <a:pPr>
              <a:lnSpc>
                <a:spcPct val="90000"/>
              </a:lnSpc>
            </a:pPr>
            <a:r>
              <a:rPr lang="en-US" altLang="en-US" sz="2000" dirty="0">
                <a:effectLst/>
              </a:rPr>
              <a:t>Implement image pre-processing techniques focused to accurately identify and                                               locate specular reflections regions in </a:t>
            </a:r>
            <a:r>
              <a:rPr lang="en-US" altLang="en-US" sz="2000" dirty="0" err="1">
                <a:effectLst/>
              </a:rPr>
              <a:t>colposcopic</a:t>
            </a:r>
            <a:r>
              <a:rPr lang="en-US" altLang="en-US" sz="2000" dirty="0">
                <a:effectLst/>
              </a:rPr>
              <a:t> images. </a:t>
            </a:r>
          </a:p>
          <a:p>
            <a:pPr>
              <a:lnSpc>
                <a:spcPct val="90000"/>
              </a:lnSpc>
            </a:pPr>
            <a:r>
              <a:rPr lang="en-US" altLang="en-US" sz="2000" dirty="0">
                <a:effectLst/>
              </a:rPr>
              <a:t>Implement inpainting techniques, such as machine learning-based models to     seamlessly reconstruct the areas affected by reflections, retaining the underlying structure of the cervix.</a:t>
            </a:r>
          </a:p>
          <a:p>
            <a:pPr>
              <a:lnSpc>
                <a:spcPct val="90000"/>
              </a:lnSpc>
            </a:pPr>
            <a:r>
              <a:rPr lang="en-US" altLang="en-US" sz="2000" dirty="0">
                <a:effectLst/>
              </a:rPr>
              <a:t>Evaluating model’s performance using performance metrics.</a:t>
            </a:r>
          </a:p>
        </p:txBody>
      </p:sp>
      <p:pic>
        <p:nvPicPr>
          <p:cNvPr id="2" name="Picture 1" descr="A diagram of a data processing process&#10;&#10;AI-generated content may be incorrect.">
            <a:extLst>
              <a:ext uri="{FF2B5EF4-FFF2-40B4-BE49-F238E27FC236}">
                <a16:creationId xmlns:a16="http://schemas.microsoft.com/office/drawing/2014/main" id="{96905ED7-2B77-575D-193F-5959D0A02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174750"/>
            <a:ext cx="1844992" cy="4953000"/>
          </a:xfrm>
          <a:prstGeom prst="rect">
            <a:avLst/>
          </a:prstGeom>
          <a:noFill/>
        </p:spPr>
      </p:pic>
      <p:sp>
        <p:nvSpPr>
          <p:cNvPr id="5" name="Slide Number Placeholder 4"/>
          <p:cNvSpPr>
            <a:spLocks noGrp="1"/>
          </p:cNvSpPr>
          <p:nvPr>
            <p:ph type="sldNum" sz="quarter" idx="12"/>
          </p:nvPr>
        </p:nvSpPr>
        <p:spPr>
          <a:xfrm>
            <a:off x="6553200" y="6245225"/>
            <a:ext cx="2133600" cy="476250"/>
          </a:xfrm>
        </p:spPr>
        <p:txBody>
          <a:bodyPr vert="horz" wrap="square" lIns="91440" tIns="45720" rIns="91440" bIns="45720" numCol="1" anchor="t" anchorCtr="0" compatLnSpc="1">
            <a:normAutofit/>
          </a:bodyPr>
          <a:lstStyle/>
          <a:p>
            <a:pPr>
              <a:spcAft>
                <a:spcPts val="600"/>
              </a:spcAft>
            </a:pPr>
            <a:fld id="{130A61BE-1BA4-41D7-975A-BF538DEFEF9C}" type="slidenum">
              <a:rPr lang="en-US" smtClean="0"/>
              <a:pPr>
                <a:spcAft>
                  <a:spcPts val="600"/>
                </a:spcAft>
              </a:pPr>
              <a:t>8</a:t>
            </a:fld>
            <a:endParaRPr lang="en-US"/>
          </a:p>
        </p:txBody>
      </p:sp>
      <p:sp>
        <p:nvSpPr>
          <p:cNvPr id="6" name="Text Box 2">
            <a:extLst>
              <a:ext uri="{FF2B5EF4-FFF2-40B4-BE49-F238E27FC236}">
                <a16:creationId xmlns:a16="http://schemas.microsoft.com/office/drawing/2014/main" id="{248CD6E0-56E3-158F-74A4-ED94E1BDBD0F}"/>
              </a:ext>
            </a:extLst>
          </p:cNvPr>
          <p:cNvSpPr txBox="1">
            <a:spLocks noChangeArrowheads="1"/>
          </p:cNvSpPr>
          <p:nvPr/>
        </p:nvSpPr>
        <p:spPr bwMode="auto">
          <a:xfrm>
            <a:off x="6330279" y="6111875"/>
            <a:ext cx="2373630" cy="266700"/>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pP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Figure 4. </a:t>
            </a:r>
            <a:r>
              <a:rPr lang="en-US" sz="1000" b="1" kern="1200" dirty="0">
                <a:solidFill>
                  <a:srgbClr val="000000"/>
                </a:solidFill>
                <a:effectLst/>
                <a:latin typeface="Calibri" panose="020F0502020204030204" pitchFamily="34" charset="0"/>
                <a:ea typeface="TeXGyreHeros-Bold"/>
                <a:cs typeface="Times New Roman" panose="02020603050405020304" pitchFamily="18" charset="0"/>
              </a:rPr>
              <a:t>Solution strategy</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238760" y="53346"/>
            <a:ext cx="8229600" cy="709594"/>
          </a:xfrm>
        </p:spPr>
        <p:txBody>
          <a:bodyPr>
            <a:normAutofit/>
          </a:bodyPr>
          <a:lstStyle/>
          <a:p>
            <a:pPr marL="684530" indent="-173355" algn="l"/>
            <a:r>
              <a:rPr lang="en-US" sz="4000" dirty="0">
                <a:latin typeface="Times New Roman" panose="02020603050405020304" pitchFamily="18" charset="0"/>
                <a:cs typeface="Times New Roman" panose="02020603050405020304" pitchFamily="18" charset="0"/>
              </a:rPr>
              <a:t>6. Software Plan</a:t>
            </a:r>
          </a:p>
        </p:txBody>
      </p:sp>
      <p:sp>
        <p:nvSpPr>
          <p:cNvPr id="3" name="Content Placeholder 2"/>
          <p:cNvSpPr>
            <a:spLocks noGrp="1"/>
          </p:cNvSpPr>
          <p:nvPr>
            <p:ph idx="1"/>
          </p:nvPr>
        </p:nvSpPr>
        <p:spPr>
          <a:xfrm>
            <a:off x="214282" y="1643050"/>
            <a:ext cx="8752840" cy="4464685"/>
          </a:xfrm>
        </p:spPr>
        <p:txBody>
          <a:bodyPr>
            <a:normAutofit fontScale="97500"/>
          </a:bodyPr>
          <a:lstStyle/>
          <a:p>
            <a:pPr marL="0" indent="0" algn="just">
              <a:buFont typeface="Wingdings" panose="05000000000000000000" charset="0"/>
              <a:buNone/>
            </a:pPr>
            <a:r>
              <a:rPr lang="en-US" altLang="en-US" sz="2000" b="1" dirty="0">
                <a:latin typeface="Times New Roman" panose="02020603050405020304" pitchFamily="18" charset="0"/>
                <a:cs typeface="Times New Roman" panose="02020603050405020304" pitchFamily="18" charset="0"/>
              </a:rPr>
              <a:t>Hardware Requirements:</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Processor: Intel Core i5/i7 or equivalent (supporting deep learning tasks)</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RAM: Minimum 8 GB (16 GB recommended)</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GPU: NVIDIA GPU with CUDA support </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Storage: 256 GB SSD or more (for datasets and model storage)</a:t>
            </a:r>
          </a:p>
          <a:p>
            <a:pPr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2000" b="1" dirty="0">
                <a:latin typeface="Times New Roman" panose="02020603050405020304" pitchFamily="18" charset="0"/>
                <a:cs typeface="Times New Roman" panose="02020603050405020304" pitchFamily="18" charset="0"/>
              </a:rPr>
              <a:t>Software Requirements:</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Operating System: Windows 10/11</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Programming Language: Python 3.x</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Libraries/Frameworks: TensorFlow, </a:t>
            </a:r>
            <a:r>
              <a:rPr lang="en-US" altLang="en-US" sz="2000" dirty="0" err="1">
                <a:latin typeface="Times New Roman" panose="02020603050405020304" pitchFamily="18" charset="0"/>
                <a:cs typeface="Times New Roman" panose="02020603050405020304" pitchFamily="18" charset="0"/>
              </a:rPr>
              <a:t>PyTorch</a:t>
            </a:r>
            <a:r>
              <a:rPr lang="en-US" altLang="en-US" sz="2000" dirty="0">
                <a:latin typeface="Times New Roman" panose="02020603050405020304" pitchFamily="18" charset="0"/>
                <a:cs typeface="Times New Roman" panose="02020603050405020304" pitchFamily="18" charset="0"/>
              </a:rPr>
              <a:t>, OpenCV, NumPy, Matplotlib </a:t>
            </a: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Tools: Anaconda, Visual Studio Code</a:t>
            </a:r>
          </a:p>
        </p:txBody>
      </p:sp>
      <p:sp>
        <p:nvSpPr>
          <p:cNvPr id="5" name="Slide Number Placeholder 4"/>
          <p:cNvSpPr>
            <a:spLocks noGrp="1"/>
          </p:cNvSpPr>
          <p:nvPr>
            <p:ph type="sldNum" sz="quarter" idx="12"/>
          </p:nvPr>
        </p:nvSpPr>
        <p:spPr/>
        <p:txBody>
          <a:bodyPr/>
          <a:lstStyle/>
          <a:p>
            <a:fld id="{130A61BE-1BA4-41D7-975A-BF538DEFEF9C}" type="slidenum">
              <a:rPr lang="en-US" smtClean="0"/>
              <a:t>9</a:t>
            </a:fld>
            <a:endParaRPr lang="en-US" dirty="0"/>
          </a:p>
        </p:txBody>
      </p:sp>
      <p:sp>
        <p:nvSpPr>
          <p:cNvPr id="2" name="Title 8"/>
          <p:cNvSpPr>
            <a:spLocks noGrp="1"/>
          </p:cNvSpPr>
          <p:nvPr/>
        </p:nvSpPr>
        <p:spPr>
          <a:xfrm>
            <a:off x="76200" y="900430"/>
            <a:ext cx="8229600" cy="582613"/>
          </a:xfrm>
          <a:prstGeom prst="rect">
            <a:avLst/>
          </a:prstGeom>
          <a:noFill/>
          <a:ln w="9525">
            <a:noFill/>
          </a:ln>
        </p:spPr>
        <p:txBody>
          <a:bodyPr anchor="ctr" anchorCtr="0">
            <a:no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l"/>
            <a:r>
              <a:rPr lang="en-US" sz="3200" dirty="0">
                <a:latin typeface="Times New Roman" panose="02020603050405020304" pitchFamily="18" charset="0"/>
                <a:cs typeface="Times New Roman" panose="02020603050405020304" pitchFamily="18" charset="0"/>
              </a:rPr>
              <a:t>6.1. Hardware and Software Requirement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9B4F6-8D2A-2D77-F8DA-E0809B3F7D33}"/>
              </a:ext>
            </a:extLst>
          </p:cNvPr>
          <p:cNvSpPr>
            <a:spLocks noGrp="1"/>
          </p:cNvSpPr>
          <p:nvPr>
            <p:ph idx="1"/>
          </p:nvPr>
        </p:nvSpPr>
        <p:spPr>
          <a:xfrm>
            <a:off x="0" y="663879"/>
            <a:ext cx="8906006" cy="5581346"/>
          </a:xfrm>
        </p:spPr>
        <p:txBody>
          <a:bodyPr/>
          <a:lstStyle/>
          <a:p>
            <a:pPr marL="0" indent="0">
              <a:buNone/>
            </a:pPr>
            <a:r>
              <a:rPr lang="en-US" sz="1800" b="1" dirty="0">
                <a:effectLst/>
                <a:latin typeface="Times New Roman" panose="02020603050405020304" pitchFamily="18" charset="0"/>
                <a:ea typeface="SimSun" panose="02010600030101010101" pitchFamily="2" charset="-122"/>
              </a:rPr>
              <a:t>Flow Chart</a:t>
            </a:r>
            <a:endParaRPr lang="en-US" dirty="0"/>
          </a:p>
        </p:txBody>
      </p:sp>
      <p:sp>
        <p:nvSpPr>
          <p:cNvPr id="5" name="Slide Number Placeholder 4">
            <a:extLst>
              <a:ext uri="{FF2B5EF4-FFF2-40B4-BE49-F238E27FC236}">
                <a16:creationId xmlns:a16="http://schemas.microsoft.com/office/drawing/2014/main" id="{1DF4FA45-EE03-86ED-C8F6-274A359B5C3B}"/>
              </a:ext>
            </a:extLst>
          </p:cNvPr>
          <p:cNvSpPr>
            <a:spLocks noGrp="1"/>
          </p:cNvSpPr>
          <p:nvPr>
            <p:ph type="sldNum" sz="quarter" idx="12"/>
          </p:nvPr>
        </p:nvSpPr>
        <p:spPr/>
        <p:txBody>
          <a:bodyPr/>
          <a:lstStyle/>
          <a:p>
            <a:fld id="{130A61BE-1BA4-41D7-975A-BF538DEFEF9C}" type="slidenum">
              <a:rPr lang="en-US" smtClean="0"/>
              <a:t>10</a:t>
            </a:fld>
            <a:endParaRPr lang="en-US"/>
          </a:p>
        </p:txBody>
      </p:sp>
      <p:pic>
        <p:nvPicPr>
          <p:cNvPr id="6" name="Picture 5">
            <a:extLst>
              <a:ext uri="{FF2B5EF4-FFF2-40B4-BE49-F238E27FC236}">
                <a16:creationId xmlns:a16="http://schemas.microsoft.com/office/drawing/2014/main" id="{3ECD82DA-C2F4-11A3-C5EB-A662A6E30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995427"/>
            <a:ext cx="8229599" cy="4900809"/>
          </a:xfrm>
          <a:prstGeom prst="rect">
            <a:avLst/>
          </a:prstGeom>
          <a:noFill/>
          <a:ln>
            <a:noFill/>
          </a:ln>
        </p:spPr>
      </p:pic>
      <p:sp>
        <p:nvSpPr>
          <p:cNvPr id="7" name="Title 6">
            <a:extLst>
              <a:ext uri="{FF2B5EF4-FFF2-40B4-BE49-F238E27FC236}">
                <a16:creationId xmlns:a16="http://schemas.microsoft.com/office/drawing/2014/main" id="{A82DE6F4-3E1B-34B2-701B-A5726D483050}"/>
              </a:ext>
            </a:extLst>
          </p:cNvPr>
          <p:cNvSpPr>
            <a:spLocks noGrp="1"/>
          </p:cNvSpPr>
          <p:nvPr/>
        </p:nvSpPr>
        <p:spPr>
          <a:xfrm>
            <a:off x="121920" y="-16120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latin typeface="Times New Roman" panose="02020603050405020304" pitchFamily="18" charset="0"/>
                <a:cs typeface="Times New Roman" panose="02020603050405020304" pitchFamily="18" charset="0"/>
              </a:rPr>
              <a:t>6.2 </a:t>
            </a:r>
            <a:r>
              <a:rPr lang="en-US" sz="4000" dirty="0">
                <a:effectLst/>
                <a:latin typeface="Times New Roman" panose="02020603050405020304" pitchFamily="18" charset="0"/>
                <a:ea typeface="SimSun" panose="02010600030101010101" pitchFamily="2" charset="-122"/>
                <a:cs typeface="Times New Roman" panose="02020603050405020304" pitchFamily="18" charset="0"/>
              </a:rPr>
              <a:t>Design Strategy for the Solution</a:t>
            </a:r>
            <a:endParaRPr lang="en-US" sz="4000" dirty="0">
              <a:latin typeface="Times New Roman" panose="02020603050405020304" pitchFamily="18" charset="0"/>
              <a:cs typeface="Times New Roman" panose="02020603050405020304" pitchFamily="18" charset="0"/>
            </a:endParaRPr>
          </a:p>
        </p:txBody>
      </p:sp>
      <p:sp>
        <p:nvSpPr>
          <p:cNvPr id="9" name="Text Box 2">
            <a:extLst>
              <a:ext uri="{FF2B5EF4-FFF2-40B4-BE49-F238E27FC236}">
                <a16:creationId xmlns:a16="http://schemas.microsoft.com/office/drawing/2014/main" id="{32FA2665-465D-03E5-FD5C-C25B8734FA15}"/>
              </a:ext>
            </a:extLst>
          </p:cNvPr>
          <p:cNvSpPr txBox="1">
            <a:spLocks noChangeArrowheads="1"/>
          </p:cNvSpPr>
          <p:nvPr/>
        </p:nvSpPr>
        <p:spPr bwMode="auto">
          <a:xfrm>
            <a:off x="3124200" y="5804030"/>
            <a:ext cx="2373630" cy="266700"/>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pPr>
            <a:r>
              <a:rPr lang="en-US" sz="1000" b="1" dirty="0">
                <a:effectLst/>
                <a:latin typeface="Calibri" panose="020F0502020204030204" pitchFamily="34" charset="0"/>
                <a:ea typeface="SimSun" panose="02010600030101010101" pitchFamily="2" charset="-122"/>
                <a:cs typeface="Times New Roman" panose="02020603050405020304" pitchFamily="18" charset="0"/>
              </a:rPr>
              <a:t>Figure 7. Flow chart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43254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D25B-ECE5-7AE1-6B46-7B78430E65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B43B08-F57F-27D6-87DB-81E379B66B12}"/>
              </a:ext>
            </a:extLst>
          </p:cNvPr>
          <p:cNvSpPr>
            <a:spLocks noGrp="1"/>
          </p:cNvSpPr>
          <p:nvPr>
            <p:ph idx="1"/>
          </p:nvPr>
        </p:nvSpPr>
        <p:spPr>
          <a:xfrm>
            <a:off x="0" y="663879"/>
            <a:ext cx="8906006" cy="5581346"/>
          </a:xfrm>
        </p:spPr>
        <p:txBody>
          <a:bodyPr/>
          <a:lstStyle/>
          <a:p>
            <a:pPr>
              <a:buNone/>
            </a:pPr>
            <a:r>
              <a:rPr lang="en-US" sz="2000" b="1" dirty="0">
                <a:latin typeface="Times New Roman" panose="02020603050405020304" pitchFamily="18" charset="0"/>
                <a:cs typeface="Times New Roman" panose="02020603050405020304" pitchFamily="18" charset="0"/>
              </a:rPr>
              <a:t>Flowchart Summary</a:t>
            </a: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b="1" dirty="0">
                <a:latin typeface="Times New Roman" panose="02020603050405020304" pitchFamily="18" charset="0"/>
                <a:cs typeface="Times New Roman" panose="02020603050405020304" pitchFamily="18" charset="0"/>
              </a:rPr>
              <a:t>Data Collection and Preprocessing</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dataset used in this research consists of colposcopy images obtained from ICMR. The dataset originally contains 926 images taken under various conditions such as original image, green filter, and iodine. </a:t>
            </a: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increase the dataset, we have employed data augmentation which ensures the robustness of the model. Various image augmentation is applied in the original dataset which is then expanded to a total of 2778 images, providing a more comprehensive dataset for training and evaluation.</a:t>
            </a:r>
          </a:p>
          <a:p>
            <a:pPr marL="457200" lvl="1" indent="-457200">
              <a:buAutoNum type="arabicPeriod" startAt="2"/>
            </a:pPr>
            <a:r>
              <a:rPr lang="en-US" sz="2000" b="1" dirty="0">
                <a:latin typeface="Times New Roman" panose="02020603050405020304" pitchFamily="18" charset="0"/>
                <a:cs typeface="Times New Roman" panose="02020603050405020304" pitchFamily="18" charset="0"/>
              </a:rPr>
              <a:t>Thresholding and Mask Creation</a:t>
            </a:r>
            <a:endParaRPr lang="en-US" sz="1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Applied thresholding to isolate bright SR regions, generating binary masks for training segmentation models.</a:t>
            </a:r>
          </a:p>
          <a:p>
            <a:pPr marL="457200" indent="-457200">
              <a:buFont typeface="+mj-lt"/>
              <a:buAutoNum type="arabicPeriod" startAt="3"/>
            </a:pPr>
            <a:r>
              <a:rPr lang="en-US" sz="2000" b="1" dirty="0">
                <a:latin typeface="Times New Roman" panose="02020603050405020304" pitchFamily="18" charset="0"/>
                <a:cs typeface="Times New Roman" panose="02020603050405020304" pitchFamily="18" charset="0"/>
              </a:rPr>
              <a:t>Contours Detection</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OpenCV tools to delineate precise SR boundaries, ensuring accurate segmentation while preserving adjacent structures.</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8FCAA8A-7B68-5951-A6A4-4F130E42956D}"/>
              </a:ext>
            </a:extLst>
          </p:cNvPr>
          <p:cNvSpPr>
            <a:spLocks noGrp="1"/>
          </p:cNvSpPr>
          <p:nvPr>
            <p:ph type="sldNum" sz="quarter" idx="12"/>
          </p:nvPr>
        </p:nvSpPr>
        <p:spPr/>
        <p:txBody>
          <a:bodyPr/>
          <a:lstStyle/>
          <a:p>
            <a:fld id="{130A61BE-1BA4-41D7-975A-BF538DEFEF9C}" type="slidenum">
              <a:rPr lang="en-US" smtClean="0"/>
              <a:t>11</a:t>
            </a:fld>
            <a:endParaRPr lang="en-US"/>
          </a:p>
        </p:txBody>
      </p:sp>
      <p:sp>
        <p:nvSpPr>
          <p:cNvPr id="7" name="Title 6">
            <a:extLst>
              <a:ext uri="{FF2B5EF4-FFF2-40B4-BE49-F238E27FC236}">
                <a16:creationId xmlns:a16="http://schemas.microsoft.com/office/drawing/2014/main" id="{A21760C9-4B11-781D-E3DC-7500929DC55E}"/>
              </a:ext>
            </a:extLst>
          </p:cNvPr>
          <p:cNvSpPr>
            <a:spLocks noGrp="1"/>
          </p:cNvSpPr>
          <p:nvPr/>
        </p:nvSpPr>
        <p:spPr>
          <a:xfrm>
            <a:off x="121920" y="-16120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latin typeface="Times New Roman" panose="02020603050405020304" pitchFamily="18" charset="0"/>
                <a:cs typeface="Times New Roman" panose="02020603050405020304" pitchFamily="18" charset="0"/>
              </a:rPr>
              <a:t>6.4 </a:t>
            </a:r>
            <a:r>
              <a:rPr lang="en-US" sz="4000" dirty="0">
                <a:effectLst/>
                <a:latin typeface="Times New Roman" panose="02020603050405020304" pitchFamily="18" charset="0"/>
                <a:ea typeface="SimSun" panose="02010600030101010101" pitchFamily="2" charset="-122"/>
                <a:cs typeface="Times New Roman" panose="02020603050405020304" pitchFamily="18" charset="0"/>
              </a:rPr>
              <a:t>Design Strategy for the Solution</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653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170F-E1E9-1503-5C65-740995E9D1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6C760-C5EC-81AE-1E06-2C380EC4F6EC}"/>
              </a:ext>
            </a:extLst>
          </p:cNvPr>
          <p:cNvSpPr>
            <a:spLocks noGrp="1"/>
          </p:cNvSpPr>
          <p:nvPr>
            <p:ph idx="1"/>
          </p:nvPr>
        </p:nvSpPr>
        <p:spPr>
          <a:xfrm>
            <a:off x="0" y="663879"/>
            <a:ext cx="8906006" cy="5581346"/>
          </a:xfrm>
        </p:spPr>
        <p:txBody>
          <a:bodyPr/>
          <a:lstStyle/>
          <a:p>
            <a:pPr>
              <a:buFont typeface="+mj-lt"/>
              <a:buAutoNum type="arabicPeriod" startAt="3"/>
            </a:pPr>
            <a:r>
              <a:rPr lang="en-US" sz="2000" b="1" dirty="0">
                <a:latin typeface="Times New Roman" panose="02020603050405020304" pitchFamily="18" charset="0"/>
                <a:cs typeface="Times New Roman" panose="02020603050405020304" pitchFamily="18" charset="0"/>
              </a:rPr>
              <a:t>U-Net for Segmentation</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Leveraged U-Net’s encoder-decoder architecture for detailed segmentation, retaining spatial information with skip connections for accuracy and consistency.</a:t>
            </a:r>
          </a:p>
          <a:p>
            <a:pPr>
              <a:buFont typeface="+mj-lt"/>
              <a:buAutoNum type="arabicPeriod" startAt="3"/>
            </a:pPr>
            <a:r>
              <a:rPr lang="en-US" sz="2000" b="1" dirty="0">
                <a:latin typeface="Times New Roman" panose="02020603050405020304" pitchFamily="18" charset="0"/>
                <a:cs typeface="Times New Roman" panose="02020603050405020304" pitchFamily="18" charset="0"/>
              </a:rPr>
              <a:t>GAN for Inpainting</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Utilized GAN’s generator to reconstruct SR-affected regions with lifelike textures, while the discriminator ensured realism. This step ensured seamless blending with surrounding tissues.</a:t>
            </a:r>
          </a:p>
          <a:p>
            <a:pPr>
              <a:buFont typeface="+mj-lt"/>
              <a:buAutoNum type="arabicPeriod" startAt="3"/>
            </a:pPr>
            <a:r>
              <a:rPr lang="en-US" sz="2000" b="1" dirty="0">
                <a:latin typeface="Times New Roman" panose="02020603050405020304" pitchFamily="18" charset="0"/>
                <a:cs typeface="Times New Roman" panose="02020603050405020304" pitchFamily="18" charset="0"/>
              </a:rPr>
              <a:t>Performance Evaluation</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Measured outcomes using SSIM and pixel-wise accuracy, validating how closely reconstructed regions matched original data in texture and structure.</a:t>
            </a:r>
          </a:p>
        </p:txBody>
      </p:sp>
      <p:sp>
        <p:nvSpPr>
          <p:cNvPr id="5" name="Slide Number Placeholder 4">
            <a:extLst>
              <a:ext uri="{FF2B5EF4-FFF2-40B4-BE49-F238E27FC236}">
                <a16:creationId xmlns:a16="http://schemas.microsoft.com/office/drawing/2014/main" id="{213E7F91-3F1C-DD2E-A05F-418820DE5E6B}"/>
              </a:ext>
            </a:extLst>
          </p:cNvPr>
          <p:cNvSpPr>
            <a:spLocks noGrp="1"/>
          </p:cNvSpPr>
          <p:nvPr>
            <p:ph type="sldNum" sz="quarter" idx="12"/>
          </p:nvPr>
        </p:nvSpPr>
        <p:spPr/>
        <p:txBody>
          <a:bodyPr/>
          <a:lstStyle/>
          <a:p>
            <a:fld id="{130A61BE-1BA4-41D7-975A-BF538DEFEF9C}" type="slidenum">
              <a:rPr lang="en-US" smtClean="0"/>
              <a:t>12</a:t>
            </a:fld>
            <a:endParaRPr lang="en-US"/>
          </a:p>
        </p:txBody>
      </p:sp>
      <p:sp>
        <p:nvSpPr>
          <p:cNvPr id="7" name="Title 6">
            <a:extLst>
              <a:ext uri="{FF2B5EF4-FFF2-40B4-BE49-F238E27FC236}">
                <a16:creationId xmlns:a16="http://schemas.microsoft.com/office/drawing/2014/main" id="{430ACB36-7FB7-AFD8-5113-40D024B999AD}"/>
              </a:ext>
            </a:extLst>
          </p:cNvPr>
          <p:cNvSpPr>
            <a:spLocks noGrp="1"/>
          </p:cNvSpPr>
          <p:nvPr/>
        </p:nvSpPr>
        <p:spPr>
          <a:xfrm>
            <a:off x="121920" y="-16120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latin typeface="Times New Roman" panose="02020603050405020304" pitchFamily="18" charset="0"/>
                <a:cs typeface="Times New Roman" panose="02020603050405020304" pitchFamily="18" charset="0"/>
              </a:rPr>
              <a:t>6.4 </a:t>
            </a:r>
            <a:r>
              <a:rPr lang="en-US" sz="4000" dirty="0">
                <a:effectLst/>
                <a:latin typeface="Times New Roman" panose="02020603050405020304" pitchFamily="18" charset="0"/>
                <a:ea typeface="SimSun" panose="02010600030101010101" pitchFamily="2" charset="-122"/>
                <a:cs typeface="Times New Roman" panose="02020603050405020304" pitchFamily="18" charset="0"/>
              </a:rPr>
              <a:t>Design Strategy for the Solution</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9860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028DA-2655-9311-B196-A4967A351E71}"/>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714D5A68-42A0-E776-8270-B395DDFF3556}"/>
              </a:ext>
            </a:extLst>
          </p:cNvPr>
          <p:cNvSpPr>
            <a:spLocks noGrp="1"/>
          </p:cNvSpPr>
          <p:nvPr>
            <p:ph idx="1"/>
          </p:nvPr>
        </p:nvSpPr>
        <p:spPr>
          <a:xfrm>
            <a:off x="0" y="730250"/>
            <a:ext cx="8686800" cy="5564079"/>
          </a:xfrm>
        </p:spPr>
        <p:txBody>
          <a:bodyPr/>
          <a:lstStyle/>
          <a:p>
            <a:pPr marL="0" indent="0">
              <a:buNone/>
            </a:pPr>
            <a:r>
              <a:rPr lang="en-US" dirty="0">
                <a:latin typeface="Times New Roman" panose="02020603050405020304" pitchFamily="18" charset="0"/>
                <a:cs typeface="Times New Roman" panose="02020603050405020304" pitchFamily="18" charset="0"/>
              </a:rPr>
              <a:t>7.1.  Experiment Environment</a:t>
            </a:r>
          </a:p>
          <a:p>
            <a:r>
              <a:rPr lang="en-US" sz="2000" dirty="0">
                <a:latin typeface="Times New Roman" panose="02020603050405020304" pitchFamily="18" charset="0"/>
                <a:cs typeface="Times New Roman" panose="02020603050405020304" pitchFamily="18" charset="0"/>
              </a:rPr>
              <a:t>The experiments were conducted on a system with an Intel Core i7 processor, 16 GB RAM, and an NVIDIA GPU with CUDA for accelerated deep learning. The software stack included Python 3.13.3, TensorFlow, </a:t>
            </a:r>
            <a:r>
              <a:rPr lang="en-US" sz="2000" dirty="0" err="1">
                <a:latin typeface="Times New Roman" panose="02020603050405020304" pitchFamily="18" charset="0"/>
                <a:cs typeface="Times New Roman" panose="02020603050405020304" pitchFamily="18" charset="0"/>
              </a:rPr>
              <a:t>PyTorch</a:t>
            </a:r>
            <a:r>
              <a:rPr lang="en-US" sz="2000" dirty="0">
                <a:latin typeface="Times New Roman" panose="02020603050405020304" pitchFamily="18" charset="0"/>
                <a:cs typeface="Times New Roman" panose="02020603050405020304" pitchFamily="18" charset="0"/>
              </a:rPr>
              <a:t>, OpenCV, and NumPy, managed in Visual Studio Code for efficient workflow and debugging. This setup ensured smooth training and processing of large datasets.</a:t>
            </a:r>
          </a:p>
          <a:p>
            <a:pPr marL="0" indent="0">
              <a:buNone/>
            </a:pPr>
            <a:r>
              <a:rPr lang="en-US" dirty="0">
                <a:latin typeface="Times New Roman" panose="02020603050405020304" pitchFamily="18" charset="0"/>
                <a:cs typeface="Times New Roman" panose="02020603050405020304" pitchFamily="18" charset="0"/>
              </a:rPr>
              <a:t>7.2.	Dataset information</a:t>
            </a:r>
          </a:p>
          <a:p>
            <a:r>
              <a:rPr lang="en-US" sz="2000" dirty="0">
                <a:latin typeface="Times New Roman" panose="02020603050405020304" pitchFamily="18" charset="0"/>
                <a:cs typeface="Times New Roman" panose="02020603050405020304" pitchFamily="18" charset="0"/>
              </a:rPr>
              <a:t>The dataset used in this research consists of colposcopy images obtained from ICMR. The dataset originally contains 905 images taken under various conditions such as original image, green filter, and iodine. </a:t>
            </a:r>
          </a:p>
        </p:txBody>
      </p:sp>
      <p:pic>
        <p:nvPicPr>
          <p:cNvPr id="7" name="Picture 6">
            <a:extLst>
              <a:ext uri="{FF2B5EF4-FFF2-40B4-BE49-F238E27FC236}">
                <a16:creationId xmlns:a16="http://schemas.microsoft.com/office/drawing/2014/main" id="{50F7EC89-0B3B-363E-AC1A-245635E3CE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1" y="4397902"/>
            <a:ext cx="8087360" cy="1729848"/>
          </a:xfrm>
          <a:prstGeom prst="rect">
            <a:avLst/>
          </a:prstGeom>
        </p:spPr>
      </p:pic>
      <p:sp>
        <p:nvSpPr>
          <p:cNvPr id="8" name="Text Box 2">
            <a:extLst>
              <a:ext uri="{FF2B5EF4-FFF2-40B4-BE49-F238E27FC236}">
                <a16:creationId xmlns:a16="http://schemas.microsoft.com/office/drawing/2014/main" id="{770F8142-A090-3F9B-7E1D-1DB15D654521}"/>
              </a:ext>
            </a:extLst>
          </p:cNvPr>
          <p:cNvSpPr txBox="1">
            <a:spLocks noChangeArrowheads="1"/>
          </p:cNvSpPr>
          <p:nvPr/>
        </p:nvSpPr>
        <p:spPr bwMode="auto">
          <a:xfrm>
            <a:off x="3314066" y="6071340"/>
            <a:ext cx="2373630" cy="266700"/>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pPr>
            <a:r>
              <a:rPr lang="en-US" sz="1000" b="1" dirty="0">
                <a:effectLst/>
                <a:latin typeface="Calibri" panose="020F0502020204030204" pitchFamily="34" charset="0"/>
                <a:ea typeface="SimSun" panose="02010600030101010101" pitchFamily="2" charset="-122"/>
                <a:cs typeface="Times New Roman" panose="02020603050405020304" pitchFamily="18" charset="0"/>
              </a:rPr>
              <a:t>Figure 8. Dataset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B7A91E97-6728-C664-C078-C01E4EE6F371}"/>
              </a:ext>
            </a:extLst>
          </p:cNvPr>
          <p:cNvSpPr>
            <a:spLocks noGrp="1"/>
          </p:cNvSpPr>
          <p:nvPr>
            <p:ph type="sldNum" sz="quarter" idx="12"/>
          </p:nvPr>
        </p:nvSpPr>
        <p:spPr/>
        <p:txBody>
          <a:bodyPr/>
          <a:lstStyle/>
          <a:p>
            <a:fld id="{130A61BE-1BA4-41D7-975A-BF538DEFEF9C}" type="slidenum">
              <a:rPr lang="en-US" smtClean="0"/>
              <a:t>13</a:t>
            </a:fld>
            <a:endParaRPr lang="en-US"/>
          </a:p>
        </p:txBody>
      </p:sp>
    </p:spTree>
    <p:extLst>
      <p:ext uri="{BB962C8B-B14F-4D97-AF65-F5344CB8AC3E}">
        <p14:creationId xmlns:p14="http://schemas.microsoft.com/office/powerpoint/2010/main" val="2398224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FCAA3-68A9-86D8-7097-E098989A5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8A9DC-F02A-60A1-B14B-BCC6E4B90B51}"/>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3D89E323-B3D7-29C6-0B6F-9BBF1AF96E4B}"/>
              </a:ext>
            </a:extLst>
          </p:cNvPr>
          <p:cNvSpPr>
            <a:spLocks noGrp="1"/>
          </p:cNvSpPr>
          <p:nvPr>
            <p:ph idx="1"/>
          </p:nvPr>
        </p:nvSpPr>
        <p:spPr>
          <a:xfrm>
            <a:off x="0" y="730250"/>
            <a:ext cx="8686800" cy="5564079"/>
          </a:xfrm>
        </p:spPr>
        <p:txBody>
          <a:bodyPr/>
          <a:lstStyle/>
          <a:p>
            <a:pPr marL="0" indent="0">
              <a:buNone/>
            </a:pPr>
            <a:r>
              <a:rPr lang="en-US" dirty="0">
                <a:latin typeface="Times New Roman" panose="02020603050405020304" pitchFamily="18" charset="0"/>
                <a:cs typeface="Times New Roman" panose="02020603050405020304" pitchFamily="18" charset="0"/>
              </a:rPr>
              <a:t>7.3.  Data augmentation</a:t>
            </a:r>
          </a:p>
          <a:p>
            <a:r>
              <a:rPr lang="en-US" sz="2000" dirty="0">
                <a:latin typeface="Times New Roman" panose="02020603050405020304" pitchFamily="18" charset="0"/>
                <a:cs typeface="Times New Roman" panose="02020603050405020304" pitchFamily="18" charset="0"/>
              </a:rPr>
              <a:t>To increase the dataset, we have employed data augmentation which ensures the robustness of the model. Various image augmentation is applied in the original dataset which is then expanded to a total of 2778 images, providing a more comprehensive dataset for training and evaluation.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3A9B9F7-6A75-01AA-4F17-5583965F5182}"/>
              </a:ext>
            </a:extLst>
          </p:cNvPr>
          <p:cNvGraphicFramePr>
            <a:graphicFrameLocks noGrp="1"/>
          </p:cNvGraphicFramePr>
          <p:nvPr>
            <p:extLst>
              <p:ext uri="{D42A27DB-BD31-4B8C-83A1-F6EECF244321}">
                <p14:modId xmlns:p14="http://schemas.microsoft.com/office/powerpoint/2010/main" val="2213846162"/>
              </p:ext>
            </p:extLst>
          </p:nvPr>
        </p:nvGraphicFramePr>
        <p:xfrm>
          <a:off x="156308" y="2952332"/>
          <a:ext cx="3861118" cy="2242568"/>
        </p:xfrm>
        <a:graphic>
          <a:graphicData uri="http://schemas.openxmlformats.org/drawingml/2006/table">
            <a:tbl>
              <a:tblPr firstRow="1" firstCol="1" bandRow="1">
                <a:tableStyleId>{5C22544A-7EE6-4342-B048-85BDC9FD1C3A}</a:tableStyleId>
              </a:tblPr>
              <a:tblGrid>
                <a:gridCol w="1146541">
                  <a:extLst>
                    <a:ext uri="{9D8B030D-6E8A-4147-A177-3AD203B41FA5}">
                      <a16:colId xmlns:a16="http://schemas.microsoft.com/office/drawing/2014/main" val="970823512"/>
                    </a:ext>
                  </a:extLst>
                </a:gridCol>
                <a:gridCol w="2714577">
                  <a:extLst>
                    <a:ext uri="{9D8B030D-6E8A-4147-A177-3AD203B41FA5}">
                      <a16:colId xmlns:a16="http://schemas.microsoft.com/office/drawing/2014/main" val="1345973640"/>
                    </a:ext>
                  </a:extLst>
                </a:gridCol>
              </a:tblGrid>
              <a:tr h="342900">
                <a:tc>
                  <a:txBody>
                    <a:bodyPr/>
                    <a:lstStyle/>
                    <a:p>
                      <a:pPr marL="0" marR="0" indent="-11430" algn="ctr">
                        <a:lnSpc>
                          <a:spcPct val="115000"/>
                        </a:lnSpc>
                        <a:spcAft>
                          <a:spcPts val="600"/>
                        </a:spcAft>
                        <a:buNone/>
                      </a:pPr>
                      <a:r>
                        <a:rPr lang="en-US" sz="1400">
                          <a:effectLst/>
                        </a:rPr>
                        <a:t>Technique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600"/>
                        </a:spcAft>
                        <a:buNone/>
                      </a:pPr>
                      <a:r>
                        <a:rPr lang="en-US" sz="1400">
                          <a:effectLst/>
                        </a:rPr>
                        <a:t>Parameters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94172124"/>
                  </a:ext>
                </a:extLst>
              </a:tr>
              <a:tr h="342900">
                <a:tc>
                  <a:txBody>
                    <a:bodyPr/>
                    <a:lstStyle/>
                    <a:p>
                      <a:pPr marL="0" marR="0" algn="ctr">
                        <a:lnSpc>
                          <a:spcPct val="115000"/>
                        </a:lnSpc>
                        <a:spcAft>
                          <a:spcPts val="600"/>
                        </a:spcAft>
                        <a:buNone/>
                      </a:pPr>
                      <a:r>
                        <a:rPr lang="en-US" sz="1400">
                          <a:effectLst/>
                        </a:rPr>
                        <a:t>Cropping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600"/>
                        </a:spcAft>
                        <a:buNone/>
                      </a:pPr>
                      <a:r>
                        <a:rPr lang="en-US" sz="1400">
                          <a:effectLst/>
                        </a:rPr>
                        <a:t>20% margin removed from all sides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3371007"/>
                  </a:ext>
                </a:extLst>
              </a:tr>
              <a:tr h="342900">
                <a:tc>
                  <a:txBody>
                    <a:bodyPr/>
                    <a:lstStyle/>
                    <a:p>
                      <a:pPr marL="0" marR="0" algn="ctr">
                        <a:lnSpc>
                          <a:spcPct val="115000"/>
                        </a:lnSpc>
                        <a:spcAft>
                          <a:spcPts val="600"/>
                        </a:spcAft>
                        <a:buNone/>
                      </a:pPr>
                      <a:r>
                        <a:rPr lang="en-US" sz="1400">
                          <a:effectLst/>
                        </a:rPr>
                        <a:t>Horizontal Flip</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600"/>
                        </a:spcAft>
                        <a:buNone/>
                      </a:pPr>
                      <a:r>
                        <a:rPr lang="en-US" sz="1400" dirty="0">
                          <a:effectLst/>
                        </a:rPr>
                        <a:t>Flips the image along the vertical axis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0602227"/>
                  </a:ext>
                </a:extLst>
              </a:tr>
              <a:tr h="342900">
                <a:tc>
                  <a:txBody>
                    <a:bodyPr/>
                    <a:lstStyle/>
                    <a:p>
                      <a:pPr marL="0" marR="0" algn="ctr">
                        <a:lnSpc>
                          <a:spcPct val="115000"/>
                        </a:lnSpc>
                        <a:spcAft>
                          <a:spcPts val="600"/>
                        </a:spcAft>
                        <a:buNone/>
                      </a:pPr>
                      <a:r>
                        <a:rPr lang="en-US" sz="1400">
                          <a:effectLst/>
                        </a:rPr>
                        <a:t>Vertical Flip</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600"/>
                        </a:spcAft>
                        <a:buNone/>
                      </a:pPr>
                      <a:r>
                        <a:rPr lang="en-US" sz="1400">
                          <a:effectLst/>
                        </a:rPr>
                        <a:t>Flips the image along the horizontal axis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81424184"/>
                  </a:ext>
                </a:extLst>
              </a:tr>
              <a:tr h="342900">
                <a:tc>
                  <a:txBody>
                    <a:bodyPr/>
                    <a:lstStyle/>
                    <a:p>
                      <a:pPr marL="0" marR="0" algn="ctr">
                        <a:lnSpc>
                          <a:spcPct val="115000"/>
                        </a:lnSpc>
                        <a:spcAft>
                          <a:spcPts val="600"/>
                        </a:spcAft>
                        <a:buNone/>
                      </a:pPr>
                      <a:r>
                        <a:rPr lang="en-US" sz="1400">
                          <a:effectLst/>
                        </a:rPr>
                        <a:t>Random Rotation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600"/>
                        </a:spcAft>
                        <a:buNone/>
                      </a:pPr>
                      <a:r>
                        <a:rPr lang="en-US" sz="1400" dirty="0">
                          <a:effectLst/>
                        </a:rPr>
                        <a:t>Angles between -30° to +30°</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36191105"/>
                  </a:ext>
                </a:extLst>
              </a:tr>
            </a:tbl>
          </a:graphicData>
        </a:graphic>
      </p:graphicFrame>
      <p:pic>
        <p:nvPicPr>
          <p:cNvPr id="6" name="Picture 5" descr="Close-up of a person's body&#10;&#10;AI-generated content may be incorrect.">
            <a:extLst>
              <a:ext uri="{FF2B5EF4-FFF2-40B4-BE49-F238E27FC236}">
                <a16:creationId xmlns:a16="http://schemas.microsoft.com/office/drawing/2014/main" id="{4AFA45F7-E55D-14DB-B153-526205C6F5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3734" y="2610462"/>
            <a:ext cx="4634669" cy="3119246"/>
          </a:xfrm>
          <a:prstGeom prst="rect">
            <a:avLst/>
          </a:prstGeom>
        </p:spPr>
      </p:pic>
      <p:sp>
        <p:nvSpPr>
          <p:cNvPr id="9" name="Text Box 2">
            <a:extLst>
              <a:ext uri="{FF2B5EF4-FFF2-40B4-BE49-F238E27FC236}">
                <a16:creationId xmlns:a16="http://schemas.microsoft.com/office/drawing/2014/main" id="{C4582488-C59D-6F16-81A5-BE0A38105B7E}"/>
              </a:ext>
            </a:extLst>
          </p:cNvPr>
          <p:cNvSpPr txBox="1">
            <a:spLocks noChangeArrowheads="1"/>
          </p:cNvSpPr>
          <p:nvPr/>
        </p:nvSpPr>
        <p:spPr bwMode="auto">
          <a:xfrm>
            <a:off x="5585460" y="5817129"/>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a:effectLst/>
                <a:latin typeface="Calibri" panose="020F0502020204030204" pitchFamily="34" charset="0"/>
                <a:ea typeface="SimSun" panose="02010600030101010101" pitchFamily="2" charset="-122"/>
                <a:cs typeface="Times New Roman" panose="02020603050405020304" pitchFamily="18" charset="0"/>
              </a:rPr>
              <a:t>Figure 9. Data augmentation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buNone/>
            </a:pPr>
            <a:r>
              <a:rPr lang="en-IN" sz="1000" b="1">
                <a:effectLst/>
                <a:latin typeface="Calibri" panose="020F0502020204030204" pitchFamily="34" charset="0"/>
                <a:ea typeface="SimSun" panose="02010600030101010101" pitchFamily="2" charset="-122"/>
                <a:cs typeface="Times New Roman" panose="02020603050405020304" pitchFamily="18" charset="0"/>
              </a:rPr>
              <a:t> </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a:effectLst/>
                <a:latin typeface="Calibri" panose="020F0502020204030204" pitchFamily="34" charset="0"/>
                <a:ea typeface="SimSun" panose="02010600030101010101" pitchFamily="2" charset="-122"/>
                <a:cs typeface="Times New Roman" panose="02020603050405020304" pitchFamily="18" charset="0"/>
              </a:rPr>
              <a:t> </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0" name="Text Box 2">
            <a:extLst>
              <a:ext uri="{FF2B5EF4-FFF2-40B4-BE49-F238E27FC236}">
                <a16:creationId xmlns:a16="http://schemas.microsoft.com/office/drawing/2014/main" id="{68683817-58D8-F57D-8109-BA8D4FBECE91}"/>
              </a:ext>
            </a:extLst>
          </p:cNvPr>
          <p:cNvSpPr txBox="1">
            <a:spLocks noChangeArrowheads="1"/>
          </p:cNvSpPr>
          <p:nvPr/>
        </p:nvSpPr>
        <p:spPr bwMode="auto">
          <a:xfrm>
            <a:off x="750570" y="2685632"/>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Table 2. Data augmentation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1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Slide Number Placeholder 6">
            <a:extLst>
              <a:ext uri="{FF2B5EF4-FFF2-40B4-BE49-F238E27FC236}">
                <a16:creationId xmlns:a16="http://schemas.microsoft.com/office/drawing/2014/main" id="{8E82A3B2-A7FA-0211-BB77-A29947CE1F96}"/>
              </a:ext>
            </a:extLst>
          </p:cNvPr>
          <p:cNvSpPr>
            <a:spLocks noGrp="1"/>
          </p:cNvSpPr>
          <p:nvPr>
            <p:ph type="sldNum" sz="quarter" idx="12"/>
          </p:nvPr>
        </p:nvSpPr>
        <p:spPr/>
        <p:txBody>
          <a:bodyPr/>
          <a:lstStyle/>
          <a:p>
            <a:fld id="{130A61BE-1BA4-41D7-975A-BF538DEFEF9C}" type="slidenum">
              <a:rPr lang="en-US" smtClean="0"/>
              <a:t>14</a:t>
            </a:fld>
            <a:endParaRPr lang="en-US"/>
          </a:p>
        </p:txBody>
      </p:sp>
    </p:spTree>
    <p:extLst>
      <p:ext uri="{BB962C8B-B14F-4D97-AF65-F5344CB8AC3E}">
        <p14:creationId xmlns:p14="http://schemas.microsoft.com/office/powerpoint/2010/main" val="2921082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B302B-686E-385B-8C53-826EA249D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50D40-10B3-E663-27D1-835C816E7985}"/>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66C9FFF9-AB40-C06D-3866-E91B0B276604}"/>
              </a:ext>
            </a:extLst>
          </p:cNvPr>
          <p:cNvSpPr>
            <a:spLocks noGrp="1"/>
          </p:cNvSpPr>
          <p:nvPr>
            <p:ph idx="1"/>
          </p:nvPr>
        </p:nvSpPr>
        <p:spPr>
          <a:xfrm>
            <a:off x="0" y="730250"/>
            <a:ext cx="8686800" cy="5564079"/>
          </a:xfrm>
        </p:spPr>
        <p:txBody>
          <a:bodyPr/>
          <a:lstStyle/>
          <a:p>
            <a:pPr marL="0" indent="0">
              <a:buNone/>
            </a:pPr>
            <a:r>
              <a:rPr lang="en-US" dirty="0">
                <a:latin typeface="Times New Roman" panose="02020603050405020304" pitchFamily="18" charset="0"/>
                <a:cs typeface="Times New Roman" panose="02020603050405020304" pitchFamily="18" charset="0"/>
              </a:rPr>
              <a:t>7.4.  Data splitting</a:t>
            </a:r>
          </a:p>
          <a:p>
            <a:r>
              <a:rPr lang="en-US" sz="2000" dirty="0">
                <a:latin typeface="Times New Roman" panose="02020603050405020304" pitchFamily="18" charset="0"/>
                <a:cs typeface="Times New Roman" panose="02020603050405020304" pitchFamily="18" charset="0"/>
              </a:rPr>
              <a:t>After the image augmentation, the dataset increased to 2,778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 which is then split into three subsets to train, validate, and test for the model learning, tuning and evaluation. Table 3 illustrates the number image subsets for the model.</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9081F09-0B64-61DD-9B47-F9772FDA20F8}"/>
              </a:ext>
            </a:extLst>
          </p:cNvPr>
          <p:cNvGraphicFramePr>
            <a:graphicFrameLocks noGrp="1"/>
          </p:cNvGraphicFramePr>
          <p:nvPr>
            <p:extLst>
              <p:ext uri="{D42A27DB-BD31-4B8C-83A1-F6EECF244321}">
                <p14:modId xmlns:p14="http://schemas.microsoft.com/office/powerpoint/2010/main" val="1815781860"/>
              </p:ext>
            </p:extLst>
          </p:nvPr>
        </p:nvGraphicFramePr>
        <p:xfrm>
          <a:off x="457200" y="2780611"/>
          <a:ext cx="6169025" cy="1506220"/>
        </p:xfrm>
        <a:graphic>
          <a:graphicData uri="http://schemas.openxmlformats.org/drawingml/2006/table">
            <a:tbl>
              <a:tblPr firstRow="1" firstCol="1" bandRow="1">
                <a:tableStyleId>{5C22544A-7EE6-4342-B048-85BDC9FD1C3A}</a:tableStyleId>
              </a:tblPr>
              <a:tblGrid>
                <a:gridCol w="2056130">
                  <a:extLst>
                    <a:ext uri="{9D8B030D-6E8A-4147-A177-3AD203B41FA5}">
                      <a16:colId xmlns:a16="http://schemas.microsoft.com/office/drawing/2014/main" val="109067579"/>
                    </a:ext>
                  </a:extLst>
                </a:gridCol>
                <a:gridCol w="2056130">
                  <a:extLst>
                    <a:ext uri="{9D8B030D-6E8A-4147-A177-3AD203B41FA5}">
                      <a16:colId xmlns:a16="http://schemas.microsoft.com/office/drawing/2014/main" val="1783756448"/>
                    </a:ext>
                  </a:extLst>
                </a:gridCol>
                <a:gridCol w="2056765">
                  <a:extLst>
                    <a:ext uri="{9D8B030D-6E8A-4147-A177-3AD203B41FA5}">
                      <a16:colId xmlns:a16="http://schemas.microsoft.com/office/drawing/2014/main" val="1712060405"/>
                    </a:ext>
                  </a:extLst>
                </a:gridCol>
              </a:tblGrid>
              <a:tr h="376555">
                <a:tc>
                  <a:txBody>
                    <a:bodyPr/>
                    <a:lstStyle/>
                    <a:p>
                      <a:pPr marL="0" marR="0" algn="ctr">
                        <a:lnSpc>
                          <a:spcPct val="115000"/>
                        </a:lnSpc>
                        <a:spcAft>
                          <a:spcPts val="1000"/>
                        </a:spcAft>
                        <a:buNone/>
                      </a:pPr>
                      <a:r>
                        <a:rPr lang="en-IN" sz="1400">
                          <a:effectLst/>
                        </a:rPr>
                        <a:t>Subset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Percentage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Number of Images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87914311"/>
                  </a:ext>
                </a:extLst>
              </a:tr>
              <a:tr h="376555">
                <a:tc>
                  <a:txBody>
                    <a:bodyPr/>
                    <a:lstStyle/>
                    <a:p>
                      <a:pPr marL="0" marR="0" algn="ctr">
                        <a:lnSpc>
                          <a:spcPct val="115000"/>
                        </a:lnSpc>
                        <a:spcAft>
                          <a:spcPts val="1000"/>
                        </a:spcAft>
                        <a:buNone/>
                      </a:pPr>
                      <a:r>
                        <a:rPr lang="en-IN" sz="1400">
                          <a:effectLst/>
                        </a:rPr>
                        <a:t>Training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60%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1,667</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74180081"/>
                  </a:ext>
                </a:extLst>
              </a:tr>
              <a:tr h="376555">
                <a:tc>
                  <a:txBody>
                    <a:bodyPr/>
                    <a:lstStyle/>
                    <a:p>
                      <a:pPr marL="0" marR="0" algn="ctr">
                        <a:lnSpc>
                          <a:spcPct val="115000"/>
                        </a:lnSpc>
                        <a:spcAft>
                          <a:spcPts val="1000"/>
                        </a:spcAft>
                        <a:buNone/>
                      </a:pPr>
                      <a:r>
                        <a:rPr lang="en-IN" sz="1400">
                          <a:effectLst/>
                        </a:rPr>
                        <a:t>Validation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20%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556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71608666"/>
                  </a:ext>
                </a:extLst>
              </a:tr>
              <a:tr h="376555">
                <a:tc>
                  <a:txBody>
                    <a:bodyPr/>
                    <a:lstStyle/>
                    <a:p>
                      <a:pPr marL="0" marR="0" algn="ctr">
                        <a:lnSpc>
                          <a:spcPct val="115000"/>
                        </a:lnSpc>
                        <a:spcAft>
                          <a:spcPts val="1000"/>
                        </a:spcAft>
                        <a:buNone/>
                      </a:pPr>
                      <a:r>
                        <a:rPr lang="en-IN" sz="1400">
                          <a:effectLst/>
                        </a:rPr>
                        <a:t>Testing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a:effectLst/>
                        </a:rPr>
                        <a:t>20%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IN" sz="1400" dirty="0">
                          <a:effectLst/>
                        </a:rPr>
                        <a:t>555</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85182660"/>
                  </a:ext>
                </a:extLst>
              </a:tr>
            </a:tbl>
          </a:graphicData>
        </a:graphic>
      </p:graphicFrame>
      <p:sp>
        <p:nvSpPr>
          <p:cNvPr id="6" name="Text Box 2">
            <a:extLst>
              <a:ext uri="{FF2B5EF4-FFF2-40B4-BE49-F238E27FC236}">
                <a16:creationId xmlns:a16="http://schemas.microsoft.com/office/drawing/2014/main" id="{82D70113-C53D-7953-2B41-1DD9B78F7539}"/>
              </a:ext>
            </a:extLst>
          </p:cNvPr>
          <p:cNvSpPr txBox="1">
            <a:spLocks noChangeArrowheads="1"/>
          </p:cNvSpPr>
          <p:nvPr/>
        </p:nvSpPr>
        <p:spPr bwMode="auto">
          <a:xfrm>
            <a:off x="2456498" y="2526502"/>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Table 3. Data Splitting</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1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Slide Number Placeholder 6">
            <a:extLst>
              <a:ext uri="{FF2B5EF4-FFF2-40B4-BE49-F238E27FC236}">
                <a16:creationId xmlns:a16="http://schemas.microsoft.com/office/drawing/2014/main" id="{521B2B45-D4C8-1AF1-F563-94A26243E3F4}"/>
              </a:ext>
            </a:extLst>
          </p:cNvPr>
          <p:cNvSpPr>
            <a:spLocks noGrp="1"/>
          </p:cNvSpPr>
          <p:nvPr>
            <p:ph type="sldNum" sz="quarter" idx="12"/>
          </p:nvPr>
        </p:nvSpPr>
        <p:spPr/>
        <p:txBody>
          <a:bodyPr/>
          <a:lstStyle/>
          <a:p>
            <a:fld id="{130A61BE-1BA4-41D7-975A-BF538DEFEF9C}" type="slidenum">
              <a:rPr lang="en-US" smtClean="0"/>
              <a:t>15</a:t>
            </a:fld>
            <a:endParaRPr lang="en-US"/>
          </a:p>
        </p:txBody>
      </p:sp>
    </p:spTree>
    <p:extLst>
      <p:ext uri="{BB962C8B-B14F-4D97-AF65-F5344CB8AC3E}">
        <p14:creationId xmlns:p14="http://schemas.microsoft.com/office/powerpoint/2010/main" val="2368126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D912D-379F-AA62-DC25-77ACF21C9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AB074-DA8F-26B4-6535-F0F8E4559C69}"/>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7273080A-F7FA-25E2-A9F9-797CFBBEAAAA}"/>
              </a:ext>
            </a:extLst>
          </p:cNvPr>
          <p:cNvSpPr>
            <a:spLocks noGrp="1"/>
          </p:cNvSpPr>
          <p:nvPr>
            <p:ph idx="1"/>
          </p:nvPr>
        </p:nvSpPr>
        <p:spPr>
          <a:xfrm>
            <a:off x="0" y="730250"/>
            <a:ext cx="8686800" cy="5564079"/>
          </a:xfrm>
        </p:spPr>
        <p:txBody>
          <a:bodyPr/>
          <a:lstStyle/>
          <a:p>
            <a:pPr marL="0" indent="0">
              <a:buNone/>
            </a:pPr>
            <a:r>
              <a:rPr lang="en-US" dirty="0">
                <a:latin typeface="Times New Roman" panose="02020603050405020304" pitchFamily="18" charset="0"/>
                <a:cs typeface="Times New Roman" panose="02020603050405020304" pitchFamily="18" charset="0"/>
              </a:rPr>
              <a:t>7.5.  Specular Reflection Regions Detection </a:t>
            </a:r>
            <a:br>
              <a:rPr lang="en-US"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project focuses on detecting specular reflection (SR) regions in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 The process involves two key components: </a:t>
            </a:r>
          </a:p>
          <a:p>
            <a:r>
              <a:rPr lang="en-US" sz="2000" b="1" dirty="0">
                <a:effectLst/>
                <a:latin typeface="Times New Roman" panose="02020603050405020304" pitchFamily="18" charset="0"/>
                <a:ea typeface="SimSun" panose="02010600030101010101" pitchFamily="2" charset="-122"/>
              </a:rPr>
              <a:t>Mask creation using traditional computer vision techniques (CV2):</a:t>
            </a:r>
          </a:p>
          <a:p>
            <a:pPr marL="0" indent="0">
              <a:buNone/>
            </a:pPr>
            <a:endParaRPr lang="en-US" sz="2000" dirty="0">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ea typeface="SimSun" panose="02010600030101010101" pitchFamily="2" charset="-122"/>
            </a:endParaRPr>
          </a:p>
          <a:p>
            <a:endParaRPr lang="en-US" sz="2000" dirty="0">
              <a:effectLst/>
              <a:latin typeface="Times New Roman" panose="02020603050405020304" pitchFamily="18" charset="0"/>
              <a:ea typeface="SimSun" panose="02010600030101010101" pitchFamily="2" charset="-122"/>
            </a:endParaRPr>
          </a:p>
          <a:p>
            <a:pPr marL="0" indent="0">
              <a:buNone/>
            </a:pPr>
            <a:r>
              <a:rPr lang="en-US" sz="2000" dirty="0">
                <a:latin typeface="Times New Roman" panose="02020603050405020304" pitchFamily="18" charset="0"/>
                <a:cs typeface="Times New Roman" panose="02020603050405020304" pitchFamily="18" charset="0"/>
              </a:rPr>
              <a:t>	The process starts by converting images to grayscale using OpenCV and applying a threshold of 230 to isolate SR regions. Contours of these bright areas are identified to create binary masks with SR regions filled (255) on a black background (0). Green contours (RGB 0, 255, 0) are overlaid on the original images for visual marking.</a:t>
            </a:r>
          </a:p>
        </p:txBody>
      </p:sp>
      <p:graphicFrame>
        <p:nvGraphicFramePr>
          <p:cNvPr id="5" name="Table 4">
            <a:extLst>
              <a:ext uri="{FF2B5EF4-FFF2-40B4-BE49-F238E27FC236}">
                <a16:creationId xmlns:a16="http://schemas.microsoft.com/office/drawing/2014/main" id="{FA2DD0A8-4D9A-5CEE-6591-AC4C91B09071}"/>
              </a:ext>
            </a:extLst>
          </p:cNvPr>
          <p:cNvGraphicFramePr>
            <a:graphicFrameLocks noGrp="1"/>
          </p:cNvGraphicFramePr>
          <p:nvPr>
            <p:extLst>
              <p:ext uri="{D42A27DB-BD31-4B8C-83A1-F6EECF244321}">
                <p14:modId xmlns:p14="http://schemas.microsoft.com/office/powerpoint/2010/main" val="1585884670"/>
              </p:ext>
            </p:extLst>
          </p:nvPr>
        </p:nvGraphicFramePr>
        <p:xfrm>
          <a:off x="457200" y="2480680"/>
          <a:ext cx="7886700" cy="2336165"/>
        </p:xfrm>
        <a:graphic>
          <a:graphicData uri="http://schemas.openxmlformats.org/drawingml/2006/table">
            <a:tbl>
              <a:tblPr firstRow="1" firstCol="1" bandRow="1">
                <a:tableStyleId>{5C22544A-7EE6-4342-B048-85BDC9FD1C3A}</a:tableStyleId>
              </a:tblPr>
              <a:tblGrid>
                <a:gridCol w="2213810">
                  <a:extLst>
                    <a:ext uri="{9D8B030D-6E8A-4147-A177-3AD203B41FA5}">
                      <a16:colId xmlns:a16="http://schemas.microsoft.com/office/drawing/2014/main" val="2099130948"/>
                    </a:ext>
                  </a:extLst>
                </a:gridCol>
                <a:gridCol w="3498387">
                  <a:extLst>
                    <a:ext uri="{9D8B030D-6E8A-4147-A177-3AD203B41FA5}">
                      <a16:colId xmlns:a16="http://schemas.microsoft.com/office/drawing/2014/main" val="2421222056"/>
                    </a:ext>
                  </a:extLst>
                </a:gridCol>
                <a:gridCol w="2174503">
                  <a:extLst>
                    <a:ext uri="{9D8B030D-6E8A-4147-A177-3AD203B41FA5}">
                      <a16:colId xmlns:a16="http://schemas.microsoft.com/office/drawing/2014/main" val="85499060"/>
                    </a:ext>
                  </a:extLst>
                </a:gridCol>
              </a:tblGrid>
              <a:tr h="285115">
                <a:tc>
                  <a:txBody>
                    <a:bodyPr/>
                    <a:lstStyle/>
                    <a:p>
                      <a:pPr marL="0" marR="0" algn="ctr">
                        <a:lnSpc>
                          <a:spcPct val="115000"/>
                        </a:lnSpc>
                        <a:spcAft>
                          <a:spcPts val="1000"/>
                        </a:spcAft>
                        <a:buNone/>
                      </a:pPr>
                      <a:r>
                        <a:rPr lang="en-IN" sz="1100">
                          <a:effectLst/>
                        </a:rPr>
                        <a:t>Parameter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Description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Value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64778935"/>
                  </a:ext>
                </a:extLst>
              </a:tr>
              <a:tr h="235457">
                <a:tc>
                  <a:txBody>
                    <a:bodyPr/>
                    <a:lstStyle/>
                    <a:p>
                      <a:pPr marL="0" marR="0" algn="ctr">
                        <a:lnSpc>
                          <a:spcPct val="115000"/>
                        </a:lnSpc>
                        <a:spcAft>
                          <a:spcPts val="1000"/>
                        </a:spcAft>
                        <a:buNone/>
                      </a:pPr>
                      <a:r>
                        <a:rPr lang="en-IN" sz="1100">
                          <a:effectLst/>
                        </a:rPr>
                        <a:t>Grayscale Conversion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Convert the image to grayscale</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cv2.COLOR_BGR2GRAY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91554733"/>
                  </a:ext>
                </a:extLst>
              </a:tr>
              <a:tr h="240220">
                <a:tc>
                  <a:txBody>
                    <a:bodyPr/>
                    <a:lstStyle/>
                    <a:p>
                      <a:pPr marL="0" marR="0" algn="ctr">
                        <a:lnSpc>
                          <a:spcPct val="115000"/>
                        </a:lnSpc>
                        <a:spcAft>
                          <a:spcPts val="1000"/>
                        </a:spcAft>
                        <a:buNone/>
                      </a:pPr>
                      <a:r>
                        <a:rPr lang="en-IN" sz="1100">
                          <a:effectLst/>
                        </a:rPr>
                        <a:t>Threshold value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Value for isolating SR regions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230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73005840"/>
                  </a:ext>
                </a:extLst>
              </a:tr>
              <a:tr h="216409">
                <a:tc>
                  <a:txBody>
                    <a:bodyPr/>
                    <a:lstStyle/>
                    <a:p>
                      <a:pPr marL="0" marR="0" algn="ctr">
                        <a:lnSpc>
                          <a:spcPct val="115000"/>
                        </a:lnSpc>
                        <a:spcAft>
                          <a:spcPts val="1000"/>
                        </a:spcAft>
                        <a:buNone/>
                      </a:pPr>
                      <a:r>
                        <a:rPr lang="en-IN" sz="1100">
                          <a:effectLst/>
                        </a:rPr>
                        <a:t>Threshold Max Value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Max value for binary threshold</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255</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65745682"/>
                  </a:ext>
                </a:extLst>
              </a:tr>
              <a:tr h="266382">
                <a:tc>
                  <a:txBody>
                    <a:bodyPr/>
                    <a:lstStyle/>
                    <a:p>
                      <a:pPr marL="0" marR="0" algn="ctr">
                        <a:lnSpc>
                          <a:spcPct val="115000"/>
                        </a:lnSpc>
                        <a:spcAft>
                          <a:spcPts val="1000"/>
                        </a:spcAft>
                        <a:buNone/>
                      </a:pPr>
                      <a:r>
                        <a:rPr lang="en-IN" sz="1100">
                          <a:effectLst/>
                        </a:rPr>
                        <a:t>Contour Retrieval Mode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Mode for finding external contours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cv2.RETR_EXTERNAL</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7154591"/>
                  </a:ext>
                </a:extLst>
              </a:tr>
              <a:tr h="240601">
                <a:tc>
                  <a:txBody>
                    <a:bodyPr/>
                    <a:lstStyle/>
                    <a:p>
                      <a:pPr marL="0" marR="0" algn="ctr">
                        <a:lnSpc>
                          <a:spcPct val="115000"/>
                        </a:lnSpc>
                        <a:spcAft>
                          <a:spcPts val="1000"/>
                        </a:spcAft>
                        <a:buNone/>
                      </a:pPr>
                      <a:r>
                        <a:rPr lang="en-IN" sz="1100">
                          <a:effectLst/>
                        </a:rPr>
                        <a:t>Contour Approximation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Method for approximating contour points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cv2.CHAIN_APPROX_SIMPLE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05160296"/>
                  </a:ext>
                </a:extLst>
              </a:tr>
              <a:tr h="205105">
                <a:tc>
                  <a:txBody>
                    <a:bodyPr/>
                    <a:lstStyle/>
                    <a:p>
                      <a:pPr marL="0" marR="0" algn="ctr">
                        <a:lnSpc>
                          <a:spcPct val="115000"/>
                        </a:lnSpc>
                        <a:spcAft>
                          <a:spcPts val="1000"/>
                        </a:spcAft>
                        <a:buNone/>
                      </a:pPr>
                      <a:r>
                        <a:rPr lang="en-IN" sz="1100">
                          <a:effectLst/>
                        </a:rPr>
                        <a:t>Mask Fill Value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Value to fill detected SR regions in mask</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255(white)</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87751075"/>
                  </a:ext>
                </a:extLst>
              </a:tr>
              <a:tr h="244728">
                <a:tc>
                  <a:txBody>
                    <a:bodyPr/>
                    <a:lstStyle/>
                    <a:p>
                      <a:pPr marL="0" marR="0" algn="ctr">
                        <a:lnSpc>
                          <a:spcPct val="115000"/>
                        </a:lnSpc>
                        <a:spcAft>
                          <a:spcPts val="1000"/>
                        </a:spcAft>
                        <a:buNone/>
                      </a:pPr>
                      <a:r>
                        <a:rPr lang="en-IN" sz="1100">
                          <a:effectLst/>
                        </a:rPr>
                        <a:t>Contour Colour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Colour for SR region contours on the image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(0, 255, 0) (Green)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2880579"/>
                  </a:ext>
                </a:extLst>
              </a:tr>
              <a:tr h="221744">
                <a:tc>
                  <a:txBody>
                    <a:bodyPr/>
                    <a:lstStyle/>
                    <a:p>
                      <a:pPr marL="0" marR="0" algn="ctr">
                        <a:lnSpc>
                          <a:spcPct val="115000"/>
                        </a:lnSpc>
                        <a:spcAft>
                          <a:spcPts val="1000"/>
                        </a:spcAft>
                        <a:buNone/>
                      </a:pPr>
                      <a:r>
                        <a:rPr lang="en-IN" sz="1100">
                          <a:effectLst/>
                        </a:rPr>
                        <a:t>Contour Thickness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Thickness of the contour lines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2 pixels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02272199"/>
                  </a:ext>
                </a:extLst>
              </a:tr>
              <a:tr h="40005">
                <a:tc>
                  <a:txBody>
                    <a:bodyPr/>
                    <a:lstStyle/>
                    <a:p>
                      <a:pPr marL="0" marR="0" algn="ctr">
                        <a:lnSpc>
                          <a:spcPct val="115000"/>
                        </a:lnSpc>
                        <a:spcAft>
                          <a:spcPts val="1000"/>
                        </a:spcAft>
                        <a:buNone/>
                      </a:pPr>
                      <a:r>
                        <a:rPr lang="en-IN" sz="1100">
                          <a:effectLst/>
                        </a:rPr>
                        <a:t>Supported File Extensions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Image format processed</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dirty="0">
                          <a:effectLst/>
                        </a:rPr>
                        <a:t>.</a:t>
                      </a:r>
                      <a:r>
                        <a:rPr lang="en-IN" sz="1100" dirty="0" err="1">
                          <a:effectLst/>
                        </a:rPr>
                        <a:t>png</a:t>
                      </a:r>
                      <a:r>
                        <a:rPr lang="en-IN" sz="1100" dirty="0">
                          <a:effectLst/>
                        </a:rPr>
                        <a:t>, .jpg, .jpeg</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72336953"/>
                  </a:ext>
                </a:extLst>
              </a:tr>
            </a:tbl>
          </a:graphicData>
        </a:graphic>
      </p:graphicFrame>
      <p:sp>
        <p:nvSpPr>
          <p:cNvPr id="6" name="Text Box 2">
            <a:extLst>
              <a:ext uri="{FF2B5EF4-FFF2-40B4-BE49-F238E27FC236}">
                <a16:creationId xmlns:a16="http://schemas.microsoft.com/office/drawing/2014/main" id="{FF146405-AAD9-B026-3C8D-E860E97B6B1D}"/>
              </a:ext>
            </a:extLst>
          </p:cNvPr>
          <p:cNvSpPr txBox="1">
            <a:spLocks noChangeArrowheads="1"/>
          </p:cNvSpPr>
          <p:nvPr/>
        </p:nvSpPr>
        <p:spPr bwMode="auto">
          <a:xfrm>
            <a:off x="2742247" y="2213980"/>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Table 4. </a:t>
            </a:r>
            <a:r>
              <a:rPr lang="en-US" sz="1000" b="1" kern="1200" dirty="0">
                <a:solidFill>
                  <a:srgbClr val="000000"/>
                </a:solidFill>
                <a:effectLst/>
                <a:latin typeface="Calibri" panose="020F0502020204030204" pitchFamily="34" charset="0"/>
                <a:ea typeface="TeXGyreHeros-Bold"/>
                <a:cs typeface="Times New Roman" panose="02020603050405020304" pitchFamily="18" charset="0"/>
              </a:rPr>
              <a:t>mask creation using CV2</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1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Slide Number Placeholder 6">
            <a:extLst>
              <a:ext uri="{FF2B5EF4-FFF2-40B4-BE49-F238E27FC236}">
                <a16:creationId xmlns:a16="http://schemas.microsoft.com/office/drawing/2014/main" id="{CF47FA38-FD16-DB77-A616-C857E76FD33E}"/>
              </a:ext>
            </a:extLst>
          </p:cNvPr>
          <p:cNvSpPr>
            <a:spLocks noGrp="1"/>
          </p:cNvSpPr>
          <p:nvPr>
            <p:ph type="sldNum" sz="quarter" idx="12"/>
          </p:nvPr>
        </p:nvSpPr>
        <p:spPr/>
        <p:txBody>
          <a:bodyPr/>
          <a:lstStyle/>
          <a:p>
            <a:fld id="{130A61BE-1BA4-41D7-975A-BF538DEFEF9C}" type="slidenum">
              <a:rPr lang="en-US" smtClean="0"/>
              <a:t>16</a:t>
            </a:fld>
            <a:endParaRPr lang="en-US"/>
          </a:p>
        </p:txBody>
      </p:sp>
    </p:spTree>
    <p:extLst>
      <p:ext uri="{BB962C8B-B14F-4D97-AF65-F5344CB8AC3E}">
        <p14:creationId xmlns:p14="http://schemas.microsoft.com/office/powerpoint/2010/main" val="3654103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6CD2-0F35-0B7C-9B5E-71AF83DFC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3D7E5-7381-7CAD-D2A5-83A704509026}"/>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AD008741-B39F-C09E-1CB4-DCD3B34A07B2}"/>
              </a:ext>
            </a:extLst>
          </p:cNvPr>
          <p:cNvSpPr>
            <a:spLocks noGrp="1"/>
          </p:cNvSpPr>
          <p:nvPr>
            <p:ph idx="1"/>
          </p:nvPr>
        </p:nvSpPr>
        <p:spPr>
          <a:xfrm>
            <a:off x="-1" y="730250"/>
            <a:ext cx="9144001" cy="5564079"/>
          </a:xfrm>
        </p:spPr>
        <p:txBody>
          <a:bodyPr/>
          <a:lstStyle/>
          <a:p>
            <a:pPr marL="0" indent="0">
              <a:buNone/>
            </a:pPr>
            <a:r>
              <a:rPr lang="en-US" dirty="0">
                <a:latin typeface="Times New Roman" panose="02020603050405020304" pitchFamily="18" charset="0"/>
                <a:cs typeface="Times New Roman" panose="02020603050405020304" pitchFamily="18" charset="0"/>
              </a:rPr>
              <a:t>7.5.  Specular Reflection Regions Detection </a:t>
            </a:r>
            <a:endParaRPr lang="en-US" sz="2000" dirty="0">
              <a:effectLst/>
              <a:latin typeface="Times New Roman" panose="02020603050405020304" pitchFamily="18" charset="0"/>
              <a:ea typeface="SimSun" panose="02010600030101010101" pitchFamily="2" charset="-122"/>
            </a:endParaRPr>
          </a:p>
          <a:p>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Semantic segmentation using the U-Net model.</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colposcopic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 to grayscale.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Apply thresholding (value: 230) to retain bright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 a binary mask with SR regions marked as white(255) and others as black(0).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 contours from the binary mask to detect SR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morphological operations to fill gaps and smooth boundaries.</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8B859A2B-832C-C821-398B-D27404D8AB21}"/>
              </a:ext>
            </a:extLst>
          </p:cNvPr>
          <p:cNvGraphicFramePr>
            <a:graphicFrameLocks noGrp="1"/>
          </p:cNvGraphicFramePr>
          <p:nvPr>
            <p:extLst>
              <p:ext uri="{D42A27DB-BD31-4B8C-83A1-F6EECF244321}">
                <p14:modId xmlns:p14="http://schemas.microsoft.com/office/powerpoint/2010/main" val="1084681505"/>
              </p:ext>
            </p:extLst>
          </p:nvPr>
        </p:nvGraphicFramePr>
        <p:xfrm>
          <a:off x="374808" y="1891347"/>
          <a:ext cx="7937183" cy="2227326"/>
        </p:xfrm>
        <a:graphic>
          <a:graphicData uri="http://schemas.openxmlformats.org/drawingml/2006/table">
            <a:tbl>
              <a:tblPr firstRow="1" firstCol="1" bandRow="1">
                <a:tableStyleId>{5C22544A-7EE6-4342-B048-85BDC9FD1C3A}</a:tableStyleId>
              </a:tblPr>
              <a:tblGrid>
                <a:gridCol w="1728613">
                  <a:extLst>
                    <a:ext uri="{9D8B030D-6E8A-4147-A177-3AD203B41FA5}">
                      <a16:colId xmlns:a16="http://schemas.microsoft.com/office/drawing/2014/main" val="179091563"/>
                    </a:ext>
                  </a:extLst>
                </a:gridCol>
                <a:gridCol w="6208570">
                  <a:extLst>
                    <a:ext uri="{9D8B030D-6E8A-4147-A177-3AD203B41FA5}">
                      <a16:colId xmlns:a16="http://schemas.microsoft.com/office/drawing/2014/main" val="1282598159"/>
                    </a:ext>
                  </a:extLst>
                </a:gridCol>
              </a:tblGrid>
              <a:tr h="255500">
                <a:tc>
                  <a:txBody>
                    <a:bodyPr/>
                    <a:lstStyle/>
                    <a:p>
                      <a:pPr marL="0" marR="0" algn="ctr">
                        <a:lnSpc>
                          <a:spcPct val="115000"/>
                        </a:lnSpc>
                        <a:spcAft>
                          <a:spcPts val="1000"/>
                        </a:spcAft>
                        <a:buNone/>
                      </a:pPr>
                      <a:r>
                        <a:rPr lang="en-IN" sz="1100">
                          <a:effectLst/>
                        </a:rPr>
                        <a:t>Parameter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IN" sz="1100">
                          <a:effectLst/>
                        </a:rPr>
                        <a:t>Technique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78144179"/>
                  </a:ext>
                </a:extLst>
              </a:tr>
              <a:tr h="478482">
                <a:tc>
                  <a:txBody>
                    <a:bodyPr/>
                    <a:lstStyle/>
                    <a:p>
                      <a:pPr marL="0" marR="0" algn="ctr">
                        <a:lnSpc>
                          <a:spcPct val="115000"/>
                        </a:lnSpc>
                        <a:spcAft>
                          <a:spcPts val="1000"/>
                        </a:spcAft>
                        <a:buNone/>
                      </a:pPr>
                      <a:r>
                        <a:rPr lang="en-IN" sz="1100">
                          <a:effectLst/>
                        </a:rPr>
                        <a:t>Thresholding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l">
                        <a:lnSpc>
                          <a:spcPct val="115000"/>
                        </a:lnSpc>
                        <a:spcAft>
                          <a:spcPts val="1000"/>
                        </a:spcAft>
                        <a:buNone/>
                      </a:pPr>
                      <a:r>
                        <a:rPr lang="en-IN" sz="1100">
                          <a:effectLst/>
                        </a:rPr>
                        <a:t>Applied strict intensity-based thresholding to isolate the brightest SR regions, focusing on high-intensity reflections.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76343033"/>
                  </a:ext>
                </a:extLst>
              </a:tr>
              <a:tr h="462803">
                <a:tc>
                  <a:txBody>
                    <a:bodyPr/>
                    <a:lstStyle/>
                    <a:p>
                      <a:pPr marL="0" marR="0" algn="ctr">
                        <a:lnSpc>
                          <a:spcPct val="115000"/>
                        </a:lnSpc>
                        <a:spcAft>
                          <a:spcPts val="1000"/>
                        </a:spcAft>
                        <a:buNone/>
                      </a:pPr>
                      <a:r>
                        <a:rPr lang="en-IN" sz="1100">
                          <a:effectLst/>
                        </a:rPr>
                        <a:t>Contour Detection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l">
                        <a:lnSpc>
                          <a:spcPct val="115000"/>
                        </a:lnSpc>
                        <a:spcAft>
                          <a:spcPts val="1000"/>
                        </a:spcAft>
                        <a:buNone/>
                      </a:pPr>
                      <a:r>
                        <a:rPr lang="en-IN" sz="1100">
                          <a:effectLst/>
                        </a:rPr>
                        <a:t>Extracted contours to map specular reflections accurately. Focused on larger reflective regions while ignoring minor artifacts.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90877791"/>
                  </a:ext>
                </a:extLst>
              </a:tr>
              <a:tr h="508508">
                <a:tc>
                  <a:txBody>
                    <a:bodyPr/>
                    <a:lstStyle/>
                    <a:p>
                      <a:pPr marL="0" marR="0" algn="ctr">
                        <a:lnSpc>
                          <a:spcPct val="115000"/>
                        </a:lnSpc>
                        <a:spcAft>
                          <a:spcPts val="1000"/>
                        </a:spcAft>
                        <a:buNone/>
                      </a:pPr>
                      <a:r>
                        <a:rPr lang="en-IN" sz="1100">
                          <a:effectLst/>
                        </a:rPr>
                        <a:t>Mask Creation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l">
                        <a:lnSpc>
                          <a:spcPct val="115000"/>
                        </a:lnSpc>
                        <a:spcAft>
                          <a:spcPts val="1000"/>
                        </a:spcAft>
                        <a:buNone/>
                      </a:pPr>
                      <a:r>
                        <a:rPr lang="en-IN" sz="1100" dirty="0">
                          <a:effectLst/>
                        </a:rPr>
                        <a:t>Binary masks were generated to represent specular regions, used for training the detection model. Masks were organized hierarchically for train, test, and validation datasets.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03701142"/>
                  </a:ext>
                </a:extLst>
              </a:tr>
              <a:tr h="522033">
                <a:tc>
                  <a:txBody>
                    <a:bodyPr/>
                    <a:lstStyle/>
                    <a:p>
                      <a:pPr marL="0" marR="0" algn="ctr">
                        <a:lnSpc>
                          <a:spcPct val="115000"/>
                        </a:lnSpc>
                        <a:spcAft>
                          <a:spcPts val="1000"/>
                        </a:spcAft>
                        <a:buNone/>
                      </a:pPr>
                      <a:r>
                        <a:rPr lang="en-IN" sz="1100">
                          <a:effectLst/>
                        </a:rPr>
                        <a:t>Green Overlay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l">
                        <a:lnSpc>
                          <a:spcPct val="115000"/>
                        </a:lnSpc>
                        <a:spcAft>
                          <a:spcPts val="1000"/>
                        </a:spcAft>
                        <a:buNone/>
                      </a:pPr>
                      <a:r>
                        <a:rPr lang="en-IN" sz="1100" dirty="0">
                          <a:effectLst/>
                        </a:rPr>
                        <a:t>Annotated detected regions with green outlines on the original images for easy visualization.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76206265"/>
                  </a:ext>
                </a:extLst>
              </a:tr>
            </a:tbl>
          </a:graphicData>
        </a:graphic>
      </p:graphicFrame>
      <p:sp>
        <p:nvSpPr>
          <p:cNvPr id="9" name="Text Box 2">
            <a:extLst>
              <a:ext uri="{FF2B5EF4-FFF2-40B4-BE49-F238E27FC236}">
                <a16:creationId xmlns:a16="http://schemas.microsoft.com/office/drawing/2014/main" id="{B2B6B7B7-6EE2-2F0E-1698-429919F3A746}"/>
              </a:ext>
            </a:extLst>
          </p:cNvPr>
          <p:cNvSpPr txBox="1">
            <a:spLocks noChangeArrowheads="1"/>
          </p:cNvSpPr>
          <p:nvPr/>
        </p:nvSpPr>
        <p:spPr bwMode="auto">
          <a:xfrm>
            <a:off x="2553368" y="1595141"/>
            <a:ext cx="3134328" cy="25249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Table </a:t>
            </a:r>
            <a:r>
              <a:rPr lang="en-IN" sz="1000" b="1" dirty="0">
                <a:solidFill>
                  <a:srgbClr val="000000"/>
                </a:solidFill>
                <a:latin typeface="Calibri" panose="020F0502020204030204" pitchFamily="34" charset="0"/>
                <a:ea typeface="TeXGyreHeros-Bold"/>
                <a:cs typeface="Times New Roman" panose="02020603050405020304" pitchFamily="18" charset="0"/>
              </a:rPr>
              <a:t>5</a:t>
            </a:r>
            <a:r>
              <a:rPr lang="en-IN" sz="1000" b="1" kern="1200" dirty="0">
                <a:solidFill>
                  <a:srgbClr val="000000"/>
                </a:solidFill>
                <a:effectLst/>
                <a:latin typeface="Calibri" panose="020F0502020204030204" pitchFamily="34" charset="0"/>
                <a:ea typeface="TeXGyreHeros-Bold"/>
                <a:cs typeface="Times New Roman" panose="02020603050405020304" pitchFamily="18" charset="0"/>
              </a:rPr>
              <a:t>. </a:t>
            </a:r>
            <a:r>
              <a:rPr lang="en-US" sz="1000" b="1" kern="1200" dirty="0">
                <a:solidFill>
                  <a:srgbClr val="000000"/>
                </a:solidFill>
                <a:effectLst/>
                <a:latin typeface="Calibri" panose="020F0502020204030204" pitchFamily="34" charset="0"/>
                <a:ea typeface="TeXGyreHeros-Bold"/>
                <a:cs typeface="Times New Roman" panose="02020603050405020304" pitchFamily="18" charset="0"/>
              </a:rPr>
              <a:t>semantic segmentation using the U-Net model</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1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17F700CC-6242-8A10-1909-F6BED1C62D6F}"/>
              </a:ext>
            </a:extLst>
          </p:cNvPr>
          <p:cNvSpPr>
            <a:spLocks noGrp="1"/>
          </p:cNvSpPr>
          <p:nvPr>
            <p:ph type="sldNum" sz="quarter" idx="12"/>
          </p:nvPr>
        </p:nvSpPr>
        <p:spPr/>
        <p:txBody>
          <a:bodyPr/>
          <a:lstStyle/>
          <a:p>
            <a:fld id="{130A61BE-1BA4-41D7-975A-BF538DEFEF9C}" type="slidenum">
              <a:rPr lang="en-US" smtClean="0"/>
              <a:t>17</a:t>
            </a:fld>
            <a:endParaRPr lang="en-US"/>
          </a:p>
        </p:txBody>
      </p:sp>
    </p:spTree>
    <p:extLst>
      <p:ext uri="{BB962C8B-B14F-4D97-AF65-F5344CB8AC3E}">
        <p14:creationId xmlns:p14="http://schemas.microsoft.com/office/powerpoint/2010/main" val="374867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34FED-D88D-5277-64C9-327C2A224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21C64-2270-6719-33C1-040A17EB1717}"/>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6FDAA3BB-1EA5-4CFA-E99A-2FE5AD3186F8}"/>
              </a:ext>
            </a:extLst>
          </p:cNvPr>
          <p:cNvSpPr>
            <a:spLocks noGrp="1"/>
          </p:cNvSpPr>
          <p:nvPr>
            <p:ph idx="1"/>
          </p:nvPr>
        </p:nvSpPr>
        <p:spPr>
          <a:xfrm>
            <a:off x="-1" y="730250"/>
            <a:ext cx="8983579" cy="5564079"/>
          </a:xfrm>
        </p:spPr>
        <p:txBody>
          <a:bodyPr/>
          <a:lstStyle/>
          <a:p>
            <a:pPr marL="0" indent="0">
              <a:buNone/>
            </a:pPr>
            <a:r>
              <a:rPr lang="en-US" dirty="0">
                <a:latin typeface="Times New Roman" panose="02020603050405020304" pitchFamily="18" charset="0"/>
                <a:cs typeface="Times New Roman" panose="02020603050405020304" pitchFamily="18" charset="0"/>
              </a:rPr>
              <a:t>7.5. Generator Architecture:</a:t>
            </a:r>
          </a:p>
          <a:p>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U-Net</a:t>
            </a:r>
          </a:p>
          <a:p>
            <a:pPr lvl="1"/>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Encoder:</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Extracts multi-scale contextual features from the input image.</a:t>
            </a:r>
          </a:p>
          <a:p>
            <a:pPr lvl="1"/>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Bottleneck:</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Encodes high-level abstract features to represent the SR regions comprehensively.</a:t>
            </a:r>
          </a:p>
          <a:p>
            <a:pPr lvl="1"/>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Decoder:</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Reconstructs the mask of image using up-sampling layers while integrating skip connections from the encoder.</a:t>
            </a: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BB34638-847B-E00D-C84C-A2E2AF00B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22" y="2719680"/>
            <a:ext cx="8005010" cy="3408070"/>
          </a:xfrm>
          <a:prstGeom prst="rect">
            <a:avLst/>
          </a:prstGeom>
        </p:spPr>
      </p:pic>
      <p:sp>
        <p:nvSpPr>
          <p:cNvPr id="6" name="Text Box 2">
            <a:extLst>
              <a:ext uri="{FF2B5EF4-FFF2-40B4-BE49-F238E27FC236}">
                <a16:creationId xmlns:a16="http://schemas.microsoft.com/office/drawing/2014/main" id="{E3D2DE9F-171F-3226-25A7-726BA62FA0DB}"/>
              </a:ext>
            </a:extLst>
          </p:cNvPr>
          <p:cNvSpPr txBox="1">
            <a:spLocks noChangeArrowheads="1"/>
          </p:cNvSpPr>
          <p:nvPr/>
        </p:nvSpPr>
        <p:spPr bwMode="auto">
          <a:xfrm>
            <a:off x="3156585" y="6027629"/>
            <a:ext cx="2373630" cy="266700"/>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a:effectLst/>
                <a:latin typeface="Calibri" panose="020F0502020204030204" pitchFamily="34" charset="0"/>
                <a:ea typeface="SimSun" panose="02010600030101010101" pitchFamily="2" charset="-122"/>
                <a:cs typeface="Times New Roman" panose="02020603050405020304" pitchFamily="18" charset="0"/>
              </a:rPr>
              <a:t>Figure 10. U-Net Generator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a:effectLst/>
                <a:latin typeface="Calibri" panose="020F0502020204030204" pitchFamily="34" charset="0"/>
                <a:ea typeface="SimSun" panose="02010600030101010101" pitchFamily="2" charset="-122"/>
                <a:cs typeface="Times New Roman" panose="02020603050405020304" pitchFamily="18" charset="0"/>
              </a:rPr>
              <a:t> </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Slide Number Placeholder 6">
            <a:extLst>
              <a:ext uri="{FF2B5EF4-FFF2-40B4-BE49-F238E27FC236}">
                <a16:creationId xmlns:a16="http://schemas.microsoft.com/office/drawing/2014/main" id="{5CCBB497-37F0-A06E-B9B0-CAD68ED5809A}"/>
              </a:ext>
            </a:extLst>
          </p:cNvPr>
          <p:cNvSpPr>
            <a:spLocks noGrp="1"/>
          </p:cNvSpPr>
          <p:nvPr>
            <p:ph type="sldNum" sz="quarter" idx="12"/>
          </p:nvPr>
        </p:nvSpPr>
        <p:spPr/>
        <p:txBody>
          <a:bodyPr/>
          <a:lstStyle/>
          <a:p>
            <a:fld id="{130A61BE-1BA4-41D7-975A-BF538DEFEF9C}" type="slidenum">
              <a:rPr lang="en-US" smtClean="0"/>
              <a:t>18</a:t>
            </a:fld>
            <a:endParaRPr lang="en-US"/>
          </a:p>
        </p:txBody>
      </p:sp>
    </p:spTree>
    <p:extLst>
      <p:ext uri="{BB962C8B-B14F-4D97-AF65-F5344CB8AC3E}">
        <p14:creationId xmlns:p14="http://schemas.microsoft.com/office/powerpoint/2010/main" val="3130655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4A9FD-2B08-5479-E1E8-7810A7A12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E8010-7391-D13C-D806-CDD18AAA0403}"/>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5BA524EF-CBD2-91B9-A35F-066CCB4E8D24}"/>
              </a:ext>
            </a:extLst>
          </p:cNvPr>
          <p:cNvSpPr>
            <a:spLocks noGrp="1"/>
          </p:cNvSpPr>
          <p:nvPr>
            <p:ph idx="1"/>
          </p:nvPr>
        </p:nvSpPr>
        <p:spPr>
          <a:xfrm>
            <a:off x="0" y="733424"/>
            <a:ext cx="8983579" cy="5564079"/>
          </a:xfrm>
        </p:spPr>
        <p:txBody>
          <a:bodyPr/>
          <a:lstStyle/>
          <a:p>
            <a:pPr marL="0" indent="0">
              <a:buNone/>
            </a:pPr>
            <a:r>
              <a:rPr lang="en-US" dirty="0">
                <a:latin typeface="Times New Roman" panose="02020603050405020304" pitchFamily="18" charset="0"/>
                <a:cs typeface="Times New Roman" panose="02020603050405020304" pitchFamily="18" charset="0"/>
              </a:rPr>
              <a:t>7.5. Generator Architecture:</a:t>
            </a:r>
          </a:p>
          <a:p>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GAN</a:t>
            </a:r>
          </a:p>
          <a:p>
            <a:pPr lvl="1" eaLnBrk="0" hangingPunct="0">
              <a:spcBef>
                <a:spcPct val="0"/>
              </a:spcBef>
              <a:tabLst>
                <a:tab pos="266700" algn="l"/>
                <a:tab pos="533400" algn="l"/>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Encoder:</a:t>
            </a:r>
            <a:r>
              <a:rPr kumimoji="0" lang="en-US" altLang="en-US" sz="16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Extracts and encodes high-level abstract and multi-scale contextual features from the input image and mask.</a:t>
            </a:r>
          </a:p>
          <a:p>
            <a:pPr lvl="1" eaLnBrk="0" hangingPunct="0">
              <a:spcBef>
                <a:spcPct val="0"/>
              </a:spcBef>
              <a:tabLst>
                <a:tab pos="266700" algn="l"/>
                <a:tab pos="533400" algn="l"/>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Decoder: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Reconstructs the in-painted image using up-sampling layers while integrating skip connections from the encoder.</a:t>
            </a: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buNone/>
            </a:pP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16" name="Text Box 2">
            <a:extLst>
              <a:ext uri="{FF2B5EF4-FFF2-40B4-BE49-F238E27FC236}">
                <a16:creationId xmlns:a16="http://schemas.microsoft.com/office/drawing/2014/main" id="{3A5A82C1-F43E-DB79-9219-97C2982B39CA}"/>
              </a:ext>
            </a:extLst>
          </p:cNvPr>
          <p:cNvSpPr txBox="1">
            <a:spLocks noChangeArrowheads="1"/>
          </p:cNvSpPr>
          <p:nvPr/>
        </p:nvSpPr>
        <p:spPr bwMode="auto">
          <a:xfrm>
            <a:off x="1530349" y="5989638"/>
            <a:ext cx="5626100" cy="269875"/>
          </a:xfrm>
          <a:prstGeom prst="rect">
            <a:avLst/>
          </a:prstGeom>
          <a:noFill/>
          <a:ln>
            <a:noFill/>
          </a:ln>
        </p:spPr>
        <p:txBody>
          <a:bodyPr vert="horz" wrap="square" lIns="91440" tIns="45720" rIns="91440" bIns="45720" numCol="1" anchor="t" anchorCtr="0" compatLnSpc="1">
            <a:prstTxWarp prst="textNoShape">
              <a:avLst/>
            </a:prstTxWarp>
          </a:bodyPr>
          <a:lstStyle>
            <a:lvl1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1pPr>
            <a:lvl2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2pPr>
            <a:lvl3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3pPr>
            <a:lvl4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4pPr>
            <a:lvl5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5pPr>
            <a:lvl6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6pPr>
            <a:lvl7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7pPr>
            <a:lvl8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8pPr>
            <a:lvl9pPr eaLnBrk="0" fontAlgn="base" hangingPunct="0">
              <a:spcBef>
                <a:spcPct val="0"/>
              </a:spcBef>
              <a:spcAft>
                <a:spcPct val="0"/>
              </a:spcAft>
              <a:tabLst>
                <a:tab pos="266700" algn="l"/>
                <a:tab pos="53340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66700" algn="l"/>
                <a:tab pos="533400" algn="l"/>
              </a:tabLst>
            </a:pPr>
            <a:r>
              <a:rPr kumimoji="0" lang="en-US" altLang="en-US" sz="1000" b="1" i="0" u="none" strike="noStrike" cap="none" normalizeH="0" baseline="0" dirty="0">
                <a:ln>
                  <a:noFill/>
                </a:ln>
                <a:solidFill>
                  <a:schemeClr val="tx1"/>
                </a:solidFill>
                <a:effectLst/>
                <a:latin typeface="Calibri" panose="020F0502020204030204" pitchFamily="34" charset="0"/>
                <a:ea typeface="SimSun" panose="02010600030101010101" pitchFamily="2" charset="-122"/>
                <a:cs typeface="Times New Roman" panose="02020603050405020304" pitchFamily="18" charset="0"/>
              </a:rPr>
              <a:t>Figure 11. GAN Generator Architecture</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 name="Picture 17" descr="Diagram of a diagram of a device&#10;&#10;AI-generated content may be incorrect.">
            <a:extLst>
              <a:ext uri="{FF2B5EF4-FFF2-40B4-BE49-F238E27FC236}">
                <a16:creationId xmlns:a16="http://schemas.microsoft.com/office/drawing/2014/main" id="{3306E898-8C40-BD68-4C79-F19DC9D392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702976"/>
            <a:ext cx="7924799" cy="3324652"/>
          </a:xfrm>
          <a:prstGeom prst="rect">
            <a:avLst/>
          </a:prstGeom>
        </p:spPr>
      </p:pic>
      <p:sp>
        <p:nvSpPr>
          <p:cNvPr id="5" name="Slide Number Placeholder 4">
            <a:extLst>
              <a:ext uri="{FF2B5EF4-FFF2-40B4-BE49-F238E27FC236}">
                <a16:creationId xmlns:a16="http://schemas.microsoft.com/office/drawing/2014/main" id="{9939D77A-AACC-00D6-9200-A86ED46FD7D9}"/>
              </a:ext>
            </a:extLst>
          </p:cNvPr>
          <p:cNvSpPr>
            <a:spLocks noGrp="1"/>
          </p:cNvSpPr>
          <p:nvPr>
            <p:ph type="sldNum" sz="quarter" idx="12"/>
          </p:nvPr>
        </p:nvSpPr>
        <p:spPr/>
        <p:txBody>
          <a:bodyPr/>
          <a:lstStyle/>
          <a:p>
            <a:fld id="{130A61BE-1BA4-41D7-975A-BF538DEFEF9C}" type="slidenum">
              <a:rPr lang="en-US" smtClean="0"/>
              <a:t>19</a:t>
            </a:fld>
            <a:endParaRPr lang="en-US"/>
          </a:p>
        </p:txBody>
      </p:sp>
    </p:spTree>
    <p:extLst>
      <p:ext uri="{BB962C8B-B14F-4D97-AF65-F5344CB8AC3E}">
        <p14:creationId xmlns:p14="http://schemas.microsoft.com/office/powerpoint/2010/main" val="1096641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B24F-1D68-ACE5-BA3C-9A72A0688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23399-CD11-9471-412F-E76397C59FE4}"/>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7C13771A-A711-90B2-3219-68CFDD34BFFD}"/>
              </a:ext>
            </a:extLst>
          </p:cNvPr>
          <p:cNvSpPr>
            <a:spLocks noGrp="1"/>
          </p:cNvSpPr>
          <p:nvPr>
            <p:ph idx="1"/>
          </p:nvPr>
        </p:nvSpPr>
        <p:spPr>
          <a:xfrm>
            <a:off x="0" y="733424"/>
            <a:ext cx="5277853" cy="1024003"/>
          </a:xfrm>
        </p:spPr>
        <p:txBody>
          <a:bodyPr/>
          <a:lstStyle/>
          <a:p>
            <a:pPr marL="0" indent="0">
              <a:buNone/>
            </a:pPr>
            <a:r>
              <a:rPr lang="en-US" dirty="0">
                <a:latin typeface="Times New Roman" panose="02020603050405020304" pitchFamily="18" charset="0"/>
                <a:cs typeface="Times New Roman" panose="02020603050405020304" pitchFamily="18" charset="0"/>
              </a:rPr>
              <a:t>7.5. Performance evaluation:</a:t>
            </a:r>
          </a:p>
          <a:p>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U-Net accuracy:</a:t>
            </a:r>
            <a:br>
              <a:rPr lang="en-US" sz="20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descr="A graph with a line&#10;&#10;AI-generated content may be incorrect.">
            <a:extLst>
              <a:ext uri="{FF2B5EF4-FFF2-40B4-BE49-F238E27FC236}">
                <a16:creationId xmlns:a16="http://schemas.microsoft.com/office/drawing/2014/main" id="{D4A5C395-49DC-5F96-F31F-F2C957E71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9283" y="1633490"/>
            <a:ext cx="4684295" cy="3763946"/>
          </a:xfrm>
          <a:prstGeom prst="rect">
            <a:avLst/>
          </a:prstGeom>
        </p:spPr>
      </p:pic>
      <p:sp>
        <p:nvSpPr>
          <p:cNvPr id="6" name="Text Box 2">
            <a:extLst>
              <a:ext uri="{FF2B5EF4-FFF2-40B4-BE49-F238E27FC236}">
                <a16:creationId xmlns:a16="http://schemas.microsoft.com/office/drawing/2014/main" id="{39C98668-E545-7D3E-9423-D044910A2D84}"/>
              </a:ext>
            </a:extLst>
          </p:cNvPr>
          <p:cNvSpPr txBox="1">
            <a:spLocks noChangeArrowheads="1"/>
          </p:cNvSpPr>
          <p:nvPr/>
        </p:nvSpPr>
        <p:spPr bwMode="auto">
          <a:xfrm>
            <a:off x="5795511" y="5447419"/>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a:effectLst/>
                <a:latin typeface="Calibri" panose="020F0502020204030204" pitchFamily="34" charset="0"/>
                <a:ea typeface="SimSun" panose="02010600030101010101" pitchFamily="2" charset="-122"/>
                <a:cs typeface="Times New Roman" panose="02020603050405020304" pitchFamily="18" charset="0"/>
              </a:rPr>
              <a:t>Figure 12. U-Net accuracy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a:effectLst/>
                <a:latin typeface="Calibri" panose="020F0502020204030204" pitchFamily="34" charset="0"/>
                <a:ea typeface="SimSun" panose="02010600030101010101" pitchFamily="2" charset="-122"/>
                <a:cs typeface="Times New Roman" panose="02020603050405020304" pitchFamily="18" charset="0"/>
              </a:rPr>
              <a:t> </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8" name="Content Placeholder 2">
            <a:extLst>
              <a:ext uri="{FF2B5EF4-FFF2-40B4-BE49-F238E27FC236}">
                <a16:creationId xmlns:a16="http://schemas.microsoft.com/office/drawing/2014/main" id="{94905421-9C9E-40D2-A051-8B10396C4B0F}"/>
              </a:ext>
            </a:extLst>
          </p:cNvPr>
          <p:cNvSpPr txBox="1">
            <a:spLocks/>
          </p:cNvSpPr>
          <p:nvPr/>
        </p:nvSpPr>
        <p:spPr>
          <a:xfrm>
            <a:off x="0" y="1757427"/>
            <a:ext cx="4572000" cy="3343147"/>
          </a:xfrm>
          <a:prstGeom prst="rect">
            <a:avLst/>
          </a:prstGeom>
          <a:noFill/>
          <a:ln w="9525">
            <a:noFill/>
          </a:ln>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The graph shows U-Net's training (blue)</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 and validation (orange-dashed) accuracy over epochs. Training accuracy improves</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 steadily, while validation accuracy </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reflects generalization. The close </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alignment of both lines indicates </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successful training without </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overfitting or underfitting, highlighting </a:t>
            </a:r>
          </a:p>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the model's robustness.</a:t>
            </a:r>
            <a:br>
              <a:rPr lang="en-US" sz="1600" dirty="0">
                <a:latin typeface="Times New Roman" panose="02020603050405020304" pitchFamily="18" charset="0"/>
                <a:ea typeface="SimSun" panose="02010600030101010101" pitchFamily="2" charset="-122"/>
                <a:cs typeface="Times New Roman" panose="02020603050405020304" pitchFamily="18" charset="0"/>
              </a:rPr>
            </a:br>
            <a:endParaRPr lang="en-US" sz="1600" dirty="0">
              <a:latin typeface="Times New Roman" panose="02020603050405020304" pitchFamily="18" charset="0"/>
              <a:ea typeface="SimSun" panose="02010600030101010101" pitchFamily="2" charset="-122"/>
            </a:endParaRPr>
          </a:p>
          <a:p>
            <a:pPr marL="0" indent="0">
              <a:buFontTx/>
              <a:buNone/>
            </a:pPr>
            <a:endParaRPr lang="en-US" sz="2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44C5D0D0-6D15-B297-1702-3ED75FA57726}"/>
              </a:ext>
            </a:extLst>
          </p:cNvPr>
          <p:cNvSpPr>
            <a:spLocks noGrp="1"/>
          </p:cNvSpPr>
          <p:nvPr>
            <p:ph type="sldNum" sz="quarter" idx="12"/>
          </p:nvPr>
        </p:nvSpPr>
        <p:spPr/>
        <p:txBody>
          <a:bodyPr/>
          <a:lstStyle/>
          <a:p>
            <a:fld id="{130A61BE-1BA4-41D7-975A-BF538DEFEF9C}" type="slidenum">
              <a:rPr lang="en-US" smtClean="0"/>
              <a:t>20</a:t>
            </a:fld>
            <a:endParaRPr lang="en-US"/>
          </a:p>
        </p:txBody>
      </p:sp>
    </p:spTree>
    <p:extLst>
      <p:ext uri="{BB962C8B-B14F-4D97-AF65-F5344CB8AC3E}">
        <p14:creationId xmlns:p14="http://schemas.microsoft.com/office/powerpoint/2010/main" val="443424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F62A3-139D-2C4A-BA09-2E9FDF57C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715FF-A031-751E-732F-17385376EF86}"/>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0319DB51-3D5D-54E0-D8F9-D0A382107EE2}"/>
              </a:ext>
            </a:extLst>
          </p:cNvPr>
          <p:cNvSpPr>
            <a:spLocks noGrp="1"/>
          </p:cNvSpPr>
          <p:nvPr>
            <p:ph idx="1"/>
          </p:nvPr>
        </p:nvSpPr>
        <p:spPr>
          <a:xfrm>
            <a:off x="0" y="733424"/>
            <a:ext cx="5277853" cy="1024003"/>
          </a:xfrm>
        </p:spPr>
        <p:txBody>
          <a:bodyPr/>
          <a:lstStyle/>
          <a:p>
            <a:pPr marL="0" indent="0">
              <a:buNone/>
            </a:pPr>
            <a:r>
              <a:rPr lang="en-US" dirty="0">
                <a:latin typeface="Times New Roman" panose="02020603050405020304" pitchFamily="18" charset="0"/>
                <a:cs typeface="Times New Roman" panose="02020603050405020304" pitchFamily="18" charset="0"/>
              </a:rPr>
              <a:t>7.5. Performance evaluation:</a:t>
            </a:r>
          </a:p>
          <a:p>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000" dirty="0">
                <a:latin typeface="Times New Roman" panose="02020603050405020304" pitchFamily="18" charset="0"/>
                <a:ea typeface="SimSun" panose="02010600030101010101" pitchFamily="2" charset="-122"/>
                <a:cs typeface="Times New Roman" panose="02020603050405020304" pitchFamily="18" charset="0"/>
              </a:rPr>
              <a:t>GAN</a:t>
            </a: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accuracy:</a:t>
            </a:r>
            <a:br>
              <a:rPr lang="en-US" sz="20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0E609E92-2497-302C-460C-2E0EC13ABFF8}"/>
              </a:ext>
            </a:extLst>
          </p:cNvPr>
          <p:cNvSpPr txBox="1">
            <a:spLocks/>
          </p:cNvSpPr>
          <p:nvPr/>
        </p:nvSpPr>
        <p:spPr>
          <a:xfrm>
            <a:off x="0" y="1757427"/>
            <a:ext cx="4572000" cy="3343147"/>
          </a:xfrm>
          <a:prstGeom prst="rect">
            <a:avLst/>
          </a:prstGeom>
          <a:noFill/>
          <a:ln w="9525">
            <a:noFill/>
          </a:ln>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0"/>
              </a:spcBef>
              <a:buFontTx/>
              <a:buNone/>
              <a:tabLst>
                <a:tab pos="266700" algn="l"/>
                <a:tab pos="533400" algn="l"/>
              </a:tabLst>
            </a:pPr>
            <a:r>
              <a:rPr lang="en-US" altLang="en-US" sz="2000" dirty="0">
                <a:latin typeface="Times New Roman" panose="02020603050405020304" pitchFamily="18" charset="0"/>
                <a:cs typeface="Times New Roman" panose="02020603050405020304" pitchFamily="18" charset="0"/>
              </a:rPr>
              <a:t>The graph illustrates the training and validation accuracy of the GAN model over multiple epochs. The training accuracy (blue line) shows the model's ability to correctly In-paint images in the training dataset, steadily improving as the model learns. The validation accuracy (orange-dashed line) reflects the model's performance.</a:t>
            </a:r>
            <a:endParaRPr lang="en-US" sz="2000" dirty="0">
              <a:latin typeface="Times New Roman" panose="02020603050405020304" pitchFamily="18" charset="0"/>
              <a:cs typeface="Times New Roman" panose="02020603050405020304" pitchFamily="18" charset="0"/>
            </a:endParaRPr>
          </a:p>
        </p:txBody>
      </p:sp>
      <p:pic>
        <p:nvPicPr>
          <p:cNvPr id="7" name="Picture 6" descr="A graph with a line&#10;&#10;AI-generated content may be incorrect.">
            <a:extLst>
              <a:ext uri="{FF2B5EF4-FFF2-40B4-BE49-F238E27FC236}">
                <a16:creationId xmlns:a16="http://schemas.microsoft.com/office/drawing/2014/main" id="{9B77FC09-B4DB-3DAA-A27B-6839F8216453}"/>
              </a:ext>
            </a:extLst>
          </p:cNvPr>
          <p:cNvPicPr>
            <a:picLocks noChangeAspect="1"/>
          </p:cNvPicPr>
          <p:nvPr/>
        </p:nvPicPr>
        <p:blipFill>
          <a:blip r:embed="rId2">
            <a:extLst>
              <a:ext uri="{28A0092B-C50C-407E-A947-70E740481C1C}">
                <a14:useLocalDpi xmlns:a14="http://schemas.microsoft.com/office/drawing/2010/main" val="0"/>
              </a:ext>
            </a:extLst>
          </a:blip>
          <a:srcRect l="6232" t="7142" r="7646" b="2050"/>
          <a:stretch/>
        </p:blipFill>
        <p:spPr>
          <a:xfrm>
            <a:off x="4429760" y="1237796"/>
            <a:ext cx="4572000" cy="4159640"/>
          </a:xfrm>
          <a:prstGeom prst="rect">
            <a:avLst/>
          </a:prstGeom>
        </p:spPr>
      </p:pic>
      <p:sp>
        <p:nvSpPr>
          <p:cNvPr id="9" name="Text Box 2">
            <a:extLst>
              <a:ext uri="{FF2B5EF4-FFF2-40B4-BE49-F238E27FC236}">
                <a16:creationId xmlns:a16="http://schemas.microsoft.com/office/drawing/2014/main" id="{D634E3B1-59DE-3801-9C8A-6BF94B4C05DA}"/>
              </a:ext>
            </a:extLst>
          </p:cNvPr>
          <p:cNvSpPr txBox="1">
            <a:spLocks noChangeArrowheads="1"/>
          </p:cNvSpPr>
          <p:nvPr/>
        </p:nvSpPr>
        <p:spPr bwMode="auto">
          <a:xfrm>
            <a:off x="5719144" y="5397436"/>
            <a:ext cx="1993232" cy="29686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tabLst>
                <a:tab pos="266700" algn="l"/>
                <a:tab pos="533400" algn="l"/>
              </a:tabLst>
            </a:pPr>
            <a:r>
              <a:rPr lang="en-IN" sz="1000" b="1" dirty="0">
                <a:effectLst/>
                <a:latin typeface="Calibri" panose="020F0502020204030204" pitchFamily="34" charset="0"/>
                <a:ea typeface="SimSun" panose="02010600030101010101" pitchFamily="2" charset="-122"/>
                <a:cs typeface="Times New Roman" panose="02020603050405020304" pitchFamily="18" charset="0"/>
              </a:rPr>
              <a:t>Figure</a:t>
            </a:r>
            <a:r>
              <a:rPr lang="en-US" sz="1000" b="1" dirty="0">
                <a:effectLst/>
                <a:latin typeface="Calibri" panose="020F0502020204030204" pitchFamily="34" charset="0"/>
                <a:ea typeface="SimSun" panose="02010600030101010101" pitchFamily="2" charset="-122"/>
                <a:cs typeface="Times New Roman" panose="02020603050405020304" pitchFamily="18" charset="0"/>
              </a:rPr>
              <a:t> 13</a:t>
            </a:r>
            <a:r>
              <a:rPr lang="en-IN" sz="1000" b="1" dirty="0">
                <a:effectLst/>
                <a:latin typeface="Calibri" panose="020F0502020204030204" pitchFamily="34" charset="0"/>
                <a:ea typeface="SimSun" panose="02010600030101010101" pitchFamily="2" charset="-122"/>
                <a:cs typeface="Times New Roman" panose="02020603050405020304" pitchFamily="18" charset="0"/>
              </a:rPr>
              <a:t>. GAN </a:t>
            </a:r>
            <a:r>
              <a:rPr lang="en-US" sz="1000" b="1" dirty="0">
                <a:effectLst/>
                <a:latin typeface="Calibri" panose="020F0502020204030204" pitchFamily="34" charset="0"/>
                <a:ea typeface="SimSun" panose="02010600030101010101" pitchFamily="2" charset="-122"/>
                <a:cs typeface="Times New Roman" panose="02020603050405020304" pitchFamily="18" charset="0"/>
              </a:rPr>
              <a:t>accuracy</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buNone/>
              <a:tabLst>
                <a:tab pos="266700" algn="l"/>
                <a:tab pos="533400" algn="l"/>
              </a:tabLst>
            </a:pPr>
            <a:r>
              <a:rPr lang="en-IN" sz="1000" b="1"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8F46E58F-1286-17BF-41ED-1610D7BF59D5}"/>
              </a:ext>
            </a:extLst>
          </p:cNvPr>
          <p:cNvSpPr>
            <a:spLocks noGrp="1"/>
          </p:cNvSpPr>
          <p:nvPr>
            <p:ph type="sldNum" sz="quarter" idx="12"/>
          </p:nvPr>
        </p:nvSpPr>
        <p:spPr/>
        <p:txBody>
          <a:bodyPr/>
          <a:lstStyle/>
          <a:p>
            <a:fld id="{130A61BE-1BA4-41D7-975A-BF538DEFEF9C}" type="slidenum">
              <a:rPr lang="en-US" smtClean="0"/>
              <a:t>21</a:t>
            </a:fld>
            <a:endParaRPr lang="en-US"/>
          </a:p>
        </p:txBody>
      </p:sp>
    </p:spTree>
    <p:extLst>
      <p:ext uri="{BB962C8B-B14F-4D97-AF65-F5344CB8AC3E}">
        <p14:creationId xmlns:p14="http://schemas.microsoft.com/office/powerpoint/2010/main" val="889436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FD4D7-2BAF-2B6E-C195-BFC8FF7B3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19DE2-2B58-44BE-4E6C-CB0431877522}"/>
              </a:ext>
            </a:extLst>
          </p:cNvPr>
          <p:cNvSpPr>
            <a:spLocks noGrp="1"/>
          </p:cNvSpPr>
          <p:nvPr>
            <p:ph type="title"/>
          </p:nvPr>
        </p:nvSpPr>
        <p:spPr>
          <a:xfrm>
            <a:off x="0" y="204788"/>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BD7F17E9-6E3F-30D5-9BFF-0097A2B43C85}"/>
              </a:ext>
            </a:extLst>
          </p:cNvPr>
          <p:cNvSpPr>
            <a:spLocks noGrp="1"/>
          </p:cNvSpPr>
          <p:nvPr>
            <p:ph idx="1"/>
          </p:nvPr>
        </p:nvSpPr>
        <p:spPr>
          <a:xfrm>
            <a:off x="0" y="733424"/>
            <a:ext cx="5277853" cy="1024003"/>
          </a:xfrm>
        </p:spPr>
        <p:txBody>
          <a:bodyPr/>
          <a:lstStyle/>
          <a:p>
            <a:pPr marL="0" indent="0">
              <a:buNone/>
            </a:pPr>
            <a:r>
              <a:rPr lang="en-US" dirty="0">
                <a:latin typeface="Times New Roman" panose="02020603050405020304" pitchFamily="18" charset="0"/>
                <a:cs typeface="Times New Roman" panose="02020603050405020304" pitchFamily="18" charset="0"/>
              </a:rPr>
              <a:t>7.5. Performance evaluation:</a:t>
            </a:r>
          </a:p>
          <a:p>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000" dirty="0">
                <a:latin typeface="Times New Roman" panose="02020603050405020304" pitchFamily="18" charset="0"/>
                <a:ea typeface="SimSun" panose="02010600030101010101" pitchFamily="2" charset="-122"/>
                <a:cs typeface="Times New Roman" panose="02020603050405020304" pitchFamily="18" charset="0"/>
              </a:rPr>
              <a:t>GAN loss functions:</a:t>
            </a:r>
            <a:br>
              <a:rPr lang="en-US" sz="20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505A3631-7F24-2E54-B553-8F1F197E2824}"/>
                  </a:ext>
                </a:extLst>
              </p:cNvPr>
              <p:cNvSpPr txBox="1">
                <a:spLocks/>
              </p:cNvSpPr>
              <p:nvPr/>
            </p:nvSpPr>
            <p:spPr>
              <a:xfrm>
                <a:off x="0" y="1757427"/>
                <a:ext cx="9144000" cy="4521453"/>
              </a:xfrm>
              <a:prstGeom prst="rect">
                <a:avLst/>
              </a:prstGeom>
              <a:noFill/>
              <a:ln w="9525">
                <a:noFill/>
              </a:ln>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These loss functions ensure the generator creates realistic and semantically meaningful in-painted images, while the discriminator becomes adept at differentiating real from generated images.</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Adversarial Loss: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loss helps the generator produce images that are indistinguishable from real images.</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p>
                <a:pPr marL="228600" marR="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ℒ</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𝐺𝐴𝑁</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𝔼</m:t>
                    </m:r>
                    <m:d>
                      <m:dPr>
                        <m:begChr m:val="["/>
                        <m:endChr m:val="]"/>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log</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𝐷</m:t>
                                </m:r>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𝑟𝑒𝑎𝑙</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_</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𝑖𝑚𝑎𝑔𝑒</m:t>
                                    </m:r>
                                  </m:e>
                                </m:d>
                              </m:e>
                            </m:d>
                          </m:e>
                        </m:func>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𝔼</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log</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1−</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𝐷</m:t>
                            </m:r>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𝐺</m:t>
                                </m:r>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𝑖𝑛𝑝𝑢𝑡</m:t>
                                    </m:r>
                                  </m:e>
                                </m:d>
                              </m:e>
                            </m:d>
                          </m:e>
                        </m:d>
                      </m:e>
                    </m:func>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gn="just">
                  <a:lnSpc>
                    <a:spcPct val="115000"/>
                  </a:lnSpc>
                  <a:spcAft>
                    <a:spcPts val="1000"/>
                  </a:spcAft>
                  <a:buNone/>
                  <a:tabLst>
                    <a:tab pos="266700" algn="l"/>
                    <a:tab pos="533400" algn="l"/>
                  </a:tabLst>
                </a:pPr>
                <a:r>
                  <a:rPr lang="en-IN" sz="1800" dirty="0">
                    <a:effectLst/>
                    <a:latin typeface="Times New Roman" panose="02020603050405020304" pitchFamily="18" charset="0"/>
                    <a:ea typeface="SimSun" panose="02010600030101010101" pitchFamily="2" charset="-122"/>
                    <a:cs typeface="Times New Roman" panose="02020603050405020304" pitchFamily="18" charset="0"/>
                  </a:rPr>
                  <a:t>Where D is the discriminator, G is the generator, and input includes the original image and mask.</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Reconstruction Loss: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loss measures the pixel-wise difference between the ground truth image and the generator’s output. It ensures that the in-painted regions closely resemble the original image.</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gn="just">
                  <a:lnSpc>
                    <a:spcPct val="115000"/>
                  </a:lnSpc>
                  <a:spcAft>
                    <a:spcPts val="1000"/>
                  </a:spcAft>
                  <a:buNone/>
                  <a:tabLst>
                    <a:tab pos="266700" algn="l"/>
                    <a:tab pos="533400" algn="l"/>
                  </a:tabLst>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			</a:t>
                </a:r>
                <a14:m>
                  <m:oMath xmlns:m="http://schemas.openxmlformats.org/officeDocument/2006/math">
                    <m:sSub>
                      <m:sSubPr>
                        <m:ctrlPr>
                          <a:rPr lang="en-US" sz="1800" b="1"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𝓛</m:t>
                        </m:r>
                      </m:e>
                      <m:sub>
                        <m:r>
                          <a:rPr lang="en-US" sz="1800" b="1" i="1">
                            <a:effectLst/>
                            <a:latin typeface="Cambria Math" panose="02040503050406030204" pitchFamily="18" charset="0"/>
                            <a:ea typeface="SimSun" panose="02010600030101010101" pitchFamily="2" charset="-122"/>
                            <a:cs typeface="Times New Roman" panose="02020603050405020304" pitchFamily="18" charset="0"/>
                          </a:rPr>
                          <m:t>𝑳</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𝟏</m:t>
                        </m:r>
                      </m:sub>
                    </m:sSub>
                    <m:r>
                      <a:rPr lang="en-US" sz="1800" b="1" i="1">
                        <a:effectLst/>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US" sz="1800" b="1"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𝒓𝒆𝒂𝒍</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_</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𝒊𝒎𝒂𝒈𝒆</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 </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𝑮</m:t>
                        </m:r>
                        <m:d>
                          <m:dPr>
                            <m:ctrlPr>
                              <a:rPr lang="en-US" sz="1800" b="1"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𝒊𝒏𝒑𝒖𝒕</m:t>
                            </m:r>
                          </m:e>
                        </m:d>
                      </m:e>
                    </m:d>
                    <m:r>
                      <a:rPr lang="en-US" sz="1800" b="1" i="1">
                        <a:effectLst/>
                        <a:latin typeface="Cambria Math" panose="02040503050406030204" pitchFamily="18" charset="0"/>
                        <a:ea typeface="SimSun" panose="02010600030101010101" pitchFamily="2" charset="-122"/>
                        <a:cs typeface="Times New Roman" panose="02020603050405020304" pitchFamily="18" charset="0"/>
                      </a:rPr>
                      <m:t>|</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𝟏</m:t>
                    </m:r>
                  </m:oMath>
                </a14:m>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505A3631-7F24-2E54-B553-8F1F197E2824}"/>
                  </a:ext>
                </a:extLst>
              </p:cNvPr>
              <p:cNvSpPr txBox="1">
                <a:spLocks noRot="1" noChangeAspect="1" noMove="1" noResize="1" noEditPoints="1" noAdjustHandles="1" noChangeArrowheads="1" noChangeShapeType="1" noTextEdit="1"/>
              </p:cNvSpPr>
              <p:nvPr/>
            </p:nvSpPr>
            <p:spPr>
              <a:xfrm>
                <a:off x="0" y="1757427"/>
                <a:ext cx="9144000" cy="4521453"/>
              </a:xfrm>
              <a:prstGeom prst="rect">
                <a:avLst/>
              </a:prstGeom>
              <a:blipFill>
                <a:blip r:embed="rId2"/>
                <a:stretch>
                  <a:fillRect l="-533" t="-270" r="-867"/>
                </a:stretch>
              </a:blipFill>
              <a:ln w="9525">
                <a:noFill/>
              </a:ln>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C336A53-763D-A88B-8AF2-F2726015EE1A}"/>
              </a:ext>
            </a:extLst>
          </p:cNvPr>
          <p:cNvSpPr>
            <a:spLocks noGrp="1"/>
          </p:cNvSpPr>
          <p:nvPr>
            <p:ph type="sldNum" sz="quarter" idx="12"/>
          </p:nvPr>
        </p:nvSpPr>
        <p:spPr/>
        <p:txBody>
          <a:bodyPr/>
          <a:lstStyle/>
          <a:p>
            <a:fld id="{130A61BE-1BA4-41D7-975A-BF538DEFEF9C}" type="slidenum">
              <a:rPr lang="en-US" smtClean="0"/>
              <a:t>22</a:t>
            </a:fld>
            <a:endParaRPr lang="en-US"/>
          </a:p>
        </p:txBody>
      </p:sp>
    </p:spTree>
    <p:extLst>
      <p:ext uri="{BB962C8B-B14F-4D97-AF65-F5344CB8AC3E}">
        <p14:creationId xmlns:p14="http://schemas.microsoft.com/office/powerpoint/2010/main" val="3182315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322B7-9690-7210-E8A1-FF5886718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5520C-CCD9-5F18-63AE-476F27FDC9F6}"/>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25BC7452-1173-736A-D230-AF987C16BCC3}"/>
              </a:ext>
            </a:extLst>
          </p:cNvPr>
          <p:cNvSpPr>
            <a:spLocks noGrp="1"/>
          </p:cNvSpPr>
          <p:nvPr>
            <p:ph idx="1"/>
          </p:nvPr>
        </p:nvSpPr>
        <p:spPr>
          <a:xfrm>
            <a:off x="0" y="733424"/>
            <a:ext cx="5277853" cy="1024003"/>
          </a:xfrm>
        </p:spPr>
        <p:txBody>
          <a:bodyPr/>
          <a:lstStyle/>
          <a:p>
            <a:pPr marL="0" indent="0">
              <a:buNone/>
            </a:pPr>
            <a:r>
              <a:rPr lang="en-US" dirty="0">
                <a:latin typeface="Times New Roman" panose="02020603050405020304" pitchFamily="18" charset="0"/>
                <a:cs typeface="Times New Roman" panose="02020603050405020304" pitchFamily="18" charset="0"/>
              </a:rPr>
              <a:t>7.5. Performance evaluation:</a:t>
            </a:r>
          </a:p>
          <a:p>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000" dirty="0">
                <a:latin typeface="Times New Roman" panose="02020603050405020304" pitchFamily="18" charset="0"/>
                <a:ea typeface="SimSun" panose="02010600030101010101" pitchFamily="2" charset="-122"/>
                <a:cs typeface="Times New Roman" panose="02020603050405020304" pitchFamily="18" charset="0"/>
              </a:rPr>
              <a:t>GAN loss functions:</a:t>
            </a:r>
            <a:br>
              <a:rPr lang="en-US" sz="20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9750D50-4DA7-CF40-5BEE-51A7D4D8B078}"/>
                  </a:ext>
                </a:extLst>
              </p:cNvPr>
              <p:cNvSpPr txBox="1">
                <a:spLocks/>
              </p:cNvSpPr>
              <p:nvPr/>
            </p:nvSpPr>
            <p:spPr>
              <a:xfrm>
                <a:off x="0" y="1655827"/>
                <a:ext cx="9144000" cy="3343147"/>
              </a:xfrm>
              <a:prstGeom prst="rect">
                <a:avLst/>
              </a:prstGeom>
              <a:noFill/>
              <a:ln w="9525">
                <a:noFill/>
              </a:ln>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Total Loss: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total loss for the generator combines the adversarial and reconstruction losses:</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pPr marL="0" marR="0">
                  <a:lnSpc>
                    <a:spcPct val="115000"/>
                  </a:lnSpc>
                  <a:spcAft>
                    <a:spcPts val="1000"/>
                  </a:spcAft>
                  <a:buNone/>
                </a:pPr>
                <a14:m>
                  <m:oMath xmlns:m="http://schemas.openxmlformats.org/officeDocument/2006/math">
                    <m:sSub>
                      <m:sSubPr>
                        <m:ctrlPr>
                          <a:rPr lang="en-US" sz="1800" b="1"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𝓛</m:t>
                        </m:r>
                      </m:e>
                      <m:sub>
                        <m:r>
                          <a:rPr lang="en-US" sz="1800" b="1" i="1">
                            <a:effectLst/>
                            <a:latin typeface="Cambria Math" panose="02040503050406030204" pitchFamily="18" charset="0"/>
                            <a:ea typeface="SimSun" panose="02010600030101010101" pitchFamily="2" charset="-122"/>
                            <a:cs typeface="Times New Roman" panose="02020603050405020304" pitchFamily="18" charset="0"/>
                          </a:rPr>
                          <m:t>𝑮</m:t>
                        </m:r>
                      </m:sub>
                    </m:sSub>
                    <m:r>
                      <a:rPr lang="en-US" sz="1800" b="1"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 </a:t>
                </a:r>
                <a14:m>
                  <m:oMath xmlns:m="http://schemas.openxmlformats.org/officeDocument/2006/math">
                    <m:sSub>
                      <m:sSubPr>
                        <m:ctrlPr>
                          <a:rPr lang="en-US" sz="1800" b="1"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𝓛</m:t>
                        </m:r>
                      </m:e>
                      <m:sub>
                        <m:r>
                          <a:rPr lang="en-US" sz="1800" b="1" i="1">
                            <a:effectLst/>
                            <a:latin typeface="Cambria Math" panose="02040503050406030204" pitchFamily="18" charset="0"/>
                            <a:ea typeface="SimSun" panose="02010600030101010101" pitchFamily="2" charset="-122"/>
                            <a:cs typeface="Times New Roman" panose="02020603050405020304" pitchFamily="18" charset="0"/>
                          </a:rPr>
                          <m:t>𝑮𝑨𝑵</m:t>
                        </m:r>
                      </m:sub>
                    </m:sSub>
                    <m:r>
                      <a:rPr lang="en-US" sz="1800" b="1"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sz="1800" b="1"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𝓛</m:t>
                        </m:r>
                      </m:e>
                      <m:sub>
                        <m:r>
                          <a:rPr lang="en-US" sz="1800" b="1" i="1">
                            <a:effectLst/>
                            <a:latin typeface="Cambria Math" panose="02040503050406030204" pitchFamily="18" charset="0"/>
                            <a:ea typeface="SimSun" panose="02010600030101010101" pitchFamily="2" charset="-122"/>
                            <a:cs typeface="Times New Roman" panose="02020603050405020304" pitchFamily="18" charset="0"/>
                          </a:rPr>
                          <m:t>𝑳</m:t>
                        </m:r>
                        <m:r>
                          <a:rPr lang="en-US" sz="1800" b="1" i="1">
                            <a:effectLst/>
                            <a:latin typeface="Cambria Math" panose="02040503050406030204" pitchFamily="18" charset="0"/>
                            <a:ea typeface="SimSun" panose="02010600030101010101" pitchFamily="2" charset="-122"/>
                            <a:cs typeface="Times New Roman" panose="02020603050405020304" pitchFamily="18" charset="0"/>
                          </a:rPr>
                          <m:t>𝟏</m:t>
                        </m:r>
                      </m:sub>
                    </m:sSub>
                  </m:oMath>
                </a14:m>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pPr marL="0" marR="0">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Here, λ balances the importance of the two loss components </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C9750D50-4DA7-CF40-5BEE-51A7D4D8B078}"/>
                  </a:ext>
                </a:extLst>
              </p:cNvPr>
              <p:cNvSpPr txBox="1">
                <a:spLocks noRot="1" noChangeAspect="1" noMove="1" noResize="1" noEditPoints="1" noAdjustHandles="1" noChangeArrowheads="1" noChangeShapeType="1" noTextEdit="1"/>
              </p:cNvSpPr>
              <p:nvPr/>
            </p:nvSpPr>
            <p:spPr>
              <a:xfrm>
                <a:off x="0" y="1655827"/>
                <a:ext cx="9144000" cy="3343147"/>
              </a:xfrm>
              <a:prstGeom prst="rect">
                <a:avLst/>
              </a:prstGeom>
              <a:blipFill>
                <a:blip r:embed="rId2"/>
                <a:stretch>
                  <a:fillRect l="-533" t="-547"/>
                </a:stretch>
              </a:blipFill>
              <a:ln w="9525">
                <a:noFill/>
              </a:ln>
            </p:spPr>
            <p:txBody>
              <a:bodyPr/>
              <a:lstStyle/>
              <a:p>
                <a:r>
                  <a:rPr lang="en-US">
                    <a:noFill/>
                  </a:rPr>
                  <a:t> </a:t>
                </a:r>
              </a:p>
            </p:txBody>
          </p:sp>
        </mc:Fallback>
      </mc:AlternateContent>
      <p:pic>
        <p:nvPicPr>
          <p:cNvPr id="5" name="Picture 4" descr="A graph of a graph with a blue line&#10;&#10;AI-generated content may be incorrect.">
            <a:extLst>
              <a:ext uri="{FF2B5EF4-FFF2-40B4-BE49-F238E27FC236}">
                <a16:creationId xmlns:a16="http://schemas.microsoft.com/office/drawing/2014/main" id="{5FE65342-112F-F864-0FD9-68CD1C943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51" y="3022093"/>
            <a:ext cx="5942330" cy="3102483"/>
          </a:xfrm>
          <a:prstGeom prst="rect">
            <a:avLst/>
          </a:prstGeom>
        </p:spPr>
      </p:pic>
      <p:sp>
        <p:nvSpPr>
          <p:cNvPr id="6" name="Text Box 2">
            <a:extLst>
              <a:ext uri="{FF2B5EF4-FFF2-40B4-BE49-F238E27FC236}">
                <a16:creationId xmlns:a16="http://schemas.microsoft.com/office/drawing/2014/main" id="{527C8A37-6C1B-EA2B-B898-515EAF159644}"/>
              </a:ext>
            </a:extLst>
          </p:cNvPr>
          <p:cNvSpPr txBox="1">
            <a:spLocks noChangeArrowheads="1"/>
          </p:cNvSpPr>
          <p:nvPr/>
        </p:nvSpPr>
        <p:spPr bwMode="auto">
          <a:xfrm>
            <a:off x="753110" y="6031866"/>
            <a:ext cx="5626100" cy="270510"/>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tabLst>
                <a:tab pos="266700" algn="l"/>
                <a:tab pos="533400" algn="l"/>
              </a:tabLst>
            </a:pPr>
            <a:r>
              <a:rPr lang="en-IN" sz="1000" b="1">
                <a:effectLst/>
                <a:latin typeface="Calibri" panose="020F0502020204030204" pitchFamily="34" charset="0"/>
                <a:ea typeface="SimSun" panose="02010600030101010101" pitchFamily="2" charset="-122"/>
                <a:cs typeface="Times New Roman" panose="02020603050405020304" pitchFamily="18" charset="0"/>
              </a:rPr>
              <a:t>Figure</a:t>
            </a:r>
            <a:r>
              <a:rPr lang="en-US" sz="1000" b="1">
                <a:effectLst/>
                <a:latin typeface="Calibri" panose="020F0502020204030204" pitchFamily="34" charset="0"/>
                <a:ea typeface="SimSun" panose="02010600030101010101" pitchFamily="2" charset="-122"/>
                <a:cs typeface="Times New Roman" panose="02020603050405020304" pitchFamily="18" charset="0"/>
              </a:rPr>
              <a:t> 14</a:t>
            </a:r>
            <a:r>
              <a:rPr lang="en-IN" sz="1000" b="1">
                <a:effectLst/>
                <a:latin typeface="Calibri" panose="020F0502020204030204" pitchFamily="34" charset="0"/>
                <a:ea typeface="SimSun" panose="02010600030101010101" pitchFamily="2" charset="-122"/>
                <a:cs typeface="Times New Roman" panose="02020603050405020304" pitchFamily="18" charset="0"/>
              </a:rPr>
              <a:t>. GAN loss over epoch</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buNone/>
              <a:tabLst>
                <a:tab pos="266700" algn="l"/>
                <a:tab pos="533400" algn="l"/>
              </a:tabLst>
            </a:pPr>
            <a:r>
              <a:rPr lang="en-IN" sz="1000" b="1">
                <a:effectLst/>
                <a:latin typeface="Calibri" panose="020F0502020204030204" pitchFamily="34" charset="0"/>
                <a:ea typeface="SimSun" panose="02010600030101010101" pitchFamily="2" charset="-122"/>
                <a:cs typeface="Times New Roman" panose="02020603050405020304" pitchFamily="18" charset="0"/>
              </a:rPr>
              <a:t> </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a:effectLst/>
                <a:latin typeface="Calibri" panose="020F0502020204030204" pitchFamily="34" charset="0"/>
                <a:ea typeface="SimSun" panose="02010600030101010101" pitchFamily="2" charset="-122"/>
                <a:cs typeface="Times New Roman" panose="02020603050405020304" pitchFamily="18" charset="0"/>
              </a:rPr>
              <a:t> </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Slide Number Placeholder 6">
            <a:extLst>
              <a:ext uri="{FF2B5EF4-FFF2-40B4-BE49-F238E27FC236}">
                <a16:creationId xmlns:a16="http://schemas.microsoft.com/office/drawing/2014/main" id="{135A834D-4217-CB14-464F-82C530CE7F31}"/>
              </a:ext>
            </a:extLst>
          </p:cNvPr>
          <p:cNvSpPr>
            <a:spLocks noGrp="1"/>
          </p:cNvSpPr>
          <p:nvPr>
            <p:ph type="sldNum" sz="quarter" idx="12"/>
          </p:nvPr>
        </p:nvSpPr>
        <p:spPr/>
        <p:txBody>
          <a:bodyPr/>
          <a:lstStyle/>
          <a:p>
            <a:fld id="{130A61BE-1BA4-41D7-975A-BF538DEFEF9C}" type="slidenum">
              <a:rPr lang="en-US" smtClean="0"/>
              <a:t>23</a:t>
            </a:fld>
            <a:endParaRPr lang="en-US"/>
          </a:p>
        </p:txBody>
      </p:sp>
    </p:spTree>
    <p:extLst>
      <p:ext uri="{BB962C8B-B14F-4D97-AF65-F5344CB8AC3E}">
        <p14:creationId xmlns:p14="http://schemas.microsoft.com/office/powerpoint/2010/main" val="4026625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DF1B-CE1E-D29C-4233-503991493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13C4B-550A-EC51-9D14-50011C29B521}"/>
              </a:ext>
            </a:extLst>
          </p:cNvPr>
          <p:cNvSpPr>
            <a:spLocks noGrp="1"/>
          </p:cNvSpPr>
          <p:nvPr>
            <p:ph type="title"/>
          </p:nvPr>
        </p:nvSpPr>
        <p:spPr>
          <a:xfrm>
            <a:off x="0" y="190500"/>
            <a:ext cx="8686800" cy="582613"/>
          </a:xfrm>
        </p:spPr>
        <p:txBody>
          <a:bodyPr/>
          <a:lstStyle/>
          <a:p>
            <a:r>
              <a:rPr lang="en-US" dirty="0"/>
              <a:t>7. Implementation details </a:t>
            </a:r>
          </a:p>
        </p:txBody>
      </p:sp>
      <p:sp>
        <p:nvSpPr>
          <p:cNvPr id="3" name="Content Placeholder 2">
            <a:extLst>
              <a:ext uri="{FF2B5EF4-FFF2-40B4-BE49-F238E27FC236}">
                <a16:creationId xmlns:a16="http://schemas.microsoft.com/office/drawing/2014/main" id="{D1AEAF79-06A4-5B56-BFDF-D10D1BD8AEF9}"/>
              </a:ext>
            </a:extLst>
          </p:cNvPr>
          <p:cNvSpPr>
            <a:spLocks noGrp="1"/>
          </p:cNvSpPr>
          <p:nvPr>
            <p:ph idx="1"/>
          </p:nvPr>
        </p:nvSpPr>
        <p:spPr>
          <a:xfrm>
            <a:off x="0" y="733424"/>
            <a:ext cx="5277853" cy="744603"/>
          </a:xfrm>
        </p:spPr>
        <p:txBody>
          <a:bodyPr/>
          <a:lstStyle/>
          <a:p>
            <a:pPr marL="0" indent="0">
              <a:buNone/>
            </a:pPr>
            <a:r>
              <a:rPr lang="en-US" dirty="0">
                <a:latin typeface="Times New Roman" panose="02020603050405020304" pitchFamily="18" charset="0"/>
                <a:cs typeface="Times New Roman" panose="02020603050405020304" pitchFamily="18" charset="0"/>
              </a:rPr>
              <a:t>7.6. SSIM evaluation:</a:t>
            </a:r>
            <a:br>
              <a:rPr lang="en-US" sz="20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66700" algn="l"/>
                <a:tab pos="533400" algn="l"/>
              </a:tabLst>
            </a:pPr>
            <a:br>
              <a:rPr lang="en-US" sz="1600" dirty="0">
                <a:effectLst/>
                <a:latin typeface="Times New Roman" panose="02020603050405020304" pitchFamily="18" charset="0"/>
                <a:ea typeface="SimSun" panose="02010600030101010101" pitchFamily="2" charset="-122"/>
                <a:cs typeface="Times New Roman" panose="02020603050405020304" pitchFamily="18" charset="0"/>
              </a:rPr>
            </a:br>
            <a:endParaRPr lang="en-US" sz="1600" dirty="0">
              <a:effectLst/>
              <a:latin typeface="Times New Roman" panose="02020603050405020304" pitchFamily="18" charset="0"/>
              <a:ea typeface="SimSun" panose="02010600030101010101" pitchFamily="2" charset="-122"/>
            </a:endParaRPr>
          </a:p>
          <a:p>
            <a:pPr marL="0" indent="0">
              <a:buNone/>
            </a:pPr>
            <a:endParaRPr 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77B4742-2AC2-C0EB-8357-02CD25639AFA}"/>
                  </a:ext>
                </a:extLst>
              </p:cNvPr>
              <p:cNvSpPr txBox="1">
                <a:spLocks/>
              </p:cNvSpPr>
              <p:nvPr/>
            </p:nvSpPr>
            <p:spPr>
              <a:xfrm>
                <a:off x="0" y="1230186"/>
                <a:ext cx="4907280" cy="4894390"/>
              </a:xfrm>
              <a:prstGeom prst="rect">
                <a:avLst/>
              </a:prstGeom>
              <a:noFill/>
              <a:ln w="9525">
                <a:noFill/>
              </a:ln>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nSpc>
                    <a:spcPct val="115000"/>
                  </a:lnSpc>
                  <a:spcAft>
                    <a:spcPts val="1000"/>
                  </a:spcAft>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SSIM (Structural Similarity Index) evaluates in-painted images by comparing them to the original, non-masked images, focusing on luminance, contrast, and structural details. High SSIM scores indicate effective restoration without distortions, validating the inpainting quality. This metric ensures reconstructed regions blend seamlessly and meet clinical standards while guiding model refinement.</a:t>
                </a:r>
                <a:endParaRPr lang="en-US" sz="1800" dirty="0">
                  <a:latin typeface="Times New Roman" panose="02020603050405020304" pitchFamily="18" charset="0"/>
                  <a:ea typeface="SimSun" panose="02010600030101010101" pitchFamily="2" charset="-122"/>
                  <a:cs typeface="Times New Roman" panose="02020603050405020304" pitchFamily="18" charset="0"/>
                </a:endParaRPr>
              </a:p>
              <a:p>
                <a:pPr marL="914400" marR="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SSIM (x, y) =</a:t>
                </a:r>
                <a14:m>
                  <m:oMath xmlns:m="http://schemas.openxmlformats.org/officeDocument/2006/math">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sub>
                            </m:sSub>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𝑥𝑦</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2 </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𝜇</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𝜇</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𝜎</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𝜎</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den>
                    </m:f>
                  </m:oMath>
                </a14:m>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pPr marL="228600" marR="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p>
                      <m:sSup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𝐿</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pPr marL="0" marR="0" indent="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2 </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sSup>
                      <m:sSup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𝐿</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pPr marL="0" marR="0">
                  <a:lnSpc>
                    <a:spcPct val="115000"/>
                  </a:lnSpc>
                  <a:spcAft>
                    <a:spcPts val="1000"/>
                  </a:spcAft>
                  <a:buNone/>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E77B4742-2AC2-C0EB-8357-02CD25639AFA}"/>
                  </a:ext>
                </a:extLst>
              </p:cNvPr>
              <p:cNvSpPr txBox="1">
                <a:spLocks noRot="1" noChangeAspect="1" noMove="1" noResize="1" noEditPoints="1" noAdjustHandles="1" noChangeArrowheads="1" noChangeShapeType="1" noTextEdit="1"/>
              </p:cNvSpPr>
              <p:nvPr/>
            </p:nvSpPr>
            <p:spPr>
              <a:xfrm>
                <a:off x="0" y="1230186"/>
                <a:ext cx="4907280" cy="4894390"/>
              </a:xfrm>
              <a:prstGeom prst="rect">
                <a:avLst/>
              </a:prstGeom>
              <a:blipFill>
                <a:blip r:embed="rId2"/>
                <a:stretch>
                  <a:fillRect l="-994" t="-374" r="-1739"/>
                </a:stretch>
              </a:blipFill>
              <a:ln w="9525">
                <a:noFill/>
              </a:ln>
            </p:spPr>
            <p:txBody>
              <a:bodyPr/>
              <a:lstStyle/>
              <a:p>
                <a:r>
                  <a:rPr lang="en-US">
                    <a:noFill/>
                  </a:rPr>
                  <a:t> </a:t>
                </a:r>
              </a:p>
            </p:txBody>
          </p:sp>
        </mc:Fallback>
      </mc:AlternateContent>
      <p:pic>
        <p:nvPicPr>
          <p:cNvPr id="7" name="Picture 6" descr="A graph showing the difference between two images and a line&#10;&#10;AI-generated content may be incorrect.">
            <a:extLst>
              <a:ext uri="{FF2B5EF4-FFF2-40B4-BE49-F238E27FC236}">
                <a16:creationId xmlns:a16="http://schemas.microsoft.com/office/drawing/2014/main" id="{0FD733F4-5D16-3098-3EF8-C0A7416A1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8747" y="1542130"/>
            <a:ext cx="3865880" cy="3566160"/>
          </a:xfrm>
          <a:prstGeom prst="rect">
            <a:avLst/>
          </a:prstGeom>
        </p:spPr>
      </p:pic>
      <p:sp>
        <p:nvSpPr>
          <p:cNvPr id="9" name="Text Box 2">
            <a:extLst>
              <a:ext uri="{FF2B5EF4-FFF2-40B4-BE49-F238E27FC236}">
                <a16:creationId xmlns:a16="http://schemas.microsoft.com/office/drawing/2014/main" id="{1292170C-FC5E-00DB-3962-50E1CD2E2F6E}"/>
              </a:ext>
            </a:extLst>
          </p:cNvPr>
          <p:cNvSpPr txBox="1">
            <a:spLocks noChangeArrowheads="1"/>
          </p:cNvSpPr>
          <p:nvPr/>
        </p:nvSpPr>
        <p:spPr bwMode="auto">
          <a:xfrm>
            <a:off x="5853430" y="5169502"/>
            <a:ext cx="2691130" cy="29273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tabLst>
                <a:tab pos="266700" algn="l"/>
                <a:tab pos="533400" algn="l"/>
              </a:tabLst>
            </a:pPr>
            <a:r>
              <a:rPr lang="en-IN" sz="1000" b="1" dirty="0">
                <a:effectLst/>
                <a:latin typeface="Calibri" panose="020F0502020204030204" pitchFamily="34" charset="0"/>
                <a:ea typeface="SimSun" panose="02010600030101010101" pitchFamily="2" charset="-122"/>
                <a:cs typeface="Times New Roman" panose="02020603050405020304" pitchFamily="18" charset="0"/>
              </a:rPr>
              <a:t>Figure</a:t>
            </a:r>
            <a:r>
              <a:rPr lang="en-US" sz="1000" b="1" dirty="0">
                <a:effectLst/>
                <a:latin typeface="Calibri" panose="020F0502020204030204" pitchFamily="34" charset="0"/>
                <a:ea typeface="SimSun" panose="02010600030101010101" pitchFamily="2" charset="-122"/>
                <a:cs typeface="Times New Roman" panose="02020603050405020304" pitchFamily="18" charset="0"/>
              </a:rPr>
              <a:t> 15</a:t>
            </a:r>
            <a:r>
              <a:rPr lang="en-IN" sz="1000" b="1" dirty="0">
                <a:effectLst/>
                <a:latin typeface="Calibri" panose="020F0502020204030204" pitchFamily="34" charset="0"/>
                <a:ea typeface="SimSun" panose="02010600030101010101" pitchFamily="2" charset="-122"/>
                <a:cs typeface="Times New Roman" panose="02020603050405020304" pitchFamily="18" charset="0"/>
              </a:rPr>
              <a:t>. SSIM comparison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buNone/>
              <a:tabLst>
                <a:tab pos="266700" algn="l"/>
                <a:tab pos="533400" algn="l"/>
              </a:tabLst>
            </a:pPr>
            <a:r>
              <a:rPr lang="en-IN" sz="1000" b="1"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B9CD67B7-699C-EE5A-965A-CB52150765D7}"/>
              </a:ext>
            </a:extLst>
          </p:cNvPr>
          <p:cNvSpPr>
            <a:spLocks noGrp="1"/>
          </p:cNvSpPr>
          <p:nvPr>
            <p:ph type="sldNum" sz="quarter" idx="12"/>
          </p:nvPr>
        </p:nvSpPr>
        <p:spPr/>
        <p:txBody>
          <a:bodyPr/>
          <a:lstStyle/>
          <a:p>
            <a:fld id="{130A61BE-1BA4-41D7-975A-BF538DEFEF9C}" type="slidenum">
              <a:rPr lang="en-US" smtClean="0"/>
              <a:t>24</a:t>
            </a:fld>
            <a:endParaRPr lang="en-US"/>
          </a:p>
        </p:txBody>
      </p:sp>
    </p:spTree>
    <p:extLst>
      <p:ext uri="{BB962C8B-B14F-4D97-AF65-F5344CB8AC3E}">
        <p14:creationId xmlns:p14="http://schemas.microsoft.com/office/powerpoint/2010/main" val="2388959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8. Results and discussion</a:t>
            </a:r>
          </a:p>
        </p:txBody>
      </p:sp>
      <p:sp>
        <p:nvSpPr>
          <p:cNvPr id="3" name="Content Placeholder 2"/>
          <p:cNvSpPr>
            <a:spLocks noGrp="1"/>
          </p:cNvSpPr>
          <p:nvPr>
            <p:ph idx="1"/>
          </p:nvPr>
        </p:nvSpPr>
        <p:spPr>
          <a:xfrm>
            <a:off x="153204" y="930275"/>
            <a:ext cx="3138636" cy="4657725"/>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Grayscale conversion simplifies preprocessing by reducing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 to intensity variations critical for detecting SR regions. This reduces complexity and eliminates irrelevant color data. U-Net uses these inputs to learn spatial features and predict SR regions accurately, ensuring consistent performance across datasets.</a:t>
            </a:r>
          </a:p>
          <a:p>
            <a:pPr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30A61BE-1BA4-41D7-975A-BF538DEFEF9C}" type="slidenum">
              <a:rPr lang="en-US" smtClean="0"/>
              <a:t>25</a:t>
            </a:fld>
            <a:endParaRPr lang="en-US"/>
          </a:p>
        </p:txBody>
      </p:sp>
      <p:pic>
        <p:nvPicPr>
          <p:cNvPr id="2" name="Picture 1" descr="Several images of the inside of the body&#10;&#10;AI-generated content may be incorrect.">
            <a:extLst>
              <a:ext uri="{FF2B5EF4-FFF2-40B4-BE49-F238E27FC236}">
                <a16:creationId xmlns:a16="http://schemas.microsoft.com/office/drawing/2014/main" id="{2EEF635D-9A6F-F5EB-0A9A-80E5410D70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3280" y="857232"/>
            <a:ext cx="5607516" cy="4502168"/>
          </a:xfrm>
          <a:prstGeom prst="rect">
            <a:avLst/>
          </a:prstGeom>
        </p:spPr>
      </p:pic>
      <p:sp>
        <p:nvSpPr>
          <p:cNvPr id="6" name="Text Box 2">
            <a:extLst>
              <a:ext uri="{FF2B5EF4-FFF2-40B4-BE49-F238E27FC236}">
                <a16:creationId xmlns:a16="http://schemas.microsoft.com/office/drawing/2014/main" id="{6EA19073-020A-9850-1B34-098B05A1F840}"/>
              </a:ext>
            </a:extLst>
          </p:cNvPr>
          <p:cNvSpPr txBox="1">
            <a:spLocks noChangeArrowheads="1"/>
          </p:cNvSpPr>
          <p:nvPr/>
        </p:nvSpPr>
        <p:spPr bwMode="auto">
          <a:xfrm>
            <a:off x="5000223" y="5443519"/>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dirty="0">
                <a:effectLst/>
                <a:latin typeface="Calibri" panose="020F0502020204030204" pitchFamily="34" charset="0"/>
                <a:ea typeface="SimSun" panose="02010600030101010101" pitchFamily="2" charset="-122"/>
                <a:cs typeface="Times New Roman" panose="02020603050405020304" pitchFamily="18" charset="0"/>
              </a:rPr>
              <a:t>Figure 16. Grayscale conversion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D9A32-65E8-98AF-6C1D-C96AEEFCB8E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C0A2CC9-8448-0AC1-6CC5-75E2B8482858}"/>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8. Results and discussion</a:t>
            </a:r>
          </a:p>
        </p:txBody>
      </p:sp>
      <p:sp>
        <p:nvSpPr>
          <p:cNvPr id="3" name="Content Placeholder 2">
            <a:extLst>
              <a:ext uri="{FF2B5EF4-FFF2-40B4-BE49-F238E27FC236}">
                <a16:creationId xmlns:a16="http://schemas.microsoft.com/office/drawing/2014/main" id="{3227B817-9959-78BB-E22F-4D61140DD5D4}"/>
              </a:ext>
            </a:extLst>
          </p:cNvPr>
          <p:cNvSpPr>
            <a:spLocks noGrp="1"/>
          </p:cNvSpPr>
          <p:nvPr>
            <p:ph idx="1"/>
          </p:nvPr>
        </p:nvSpPr>
        <p:spPr>
          <a:xfrm>
            <a:off x="153204" y="930275"/>
            <a:ext cx="3790146" cy="4657725"/>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Thresholding converts grayscale images into binary masks, marking pixel values above 230 as SR regions. These masks guide U-Net training, enabling it to learn spatial patterns and segment SR regions accurately, even in complex cases. Combining thresholding with U-Net ensures precise masks for inpainting while preserving tissue integrity for clinical use.</a:t>
            </a:r>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E5CC156-124E-D80F-EE0B-DE6E122AA09D}"/>
              </a:ext>
            </a:extLst>
          </p:cNvPr>
          <p:cNvSpPr>
            <a:spLocks noGrp="1"/>
          </p:cNvSpPr>
          <p:nvPr>
            <p:ph type="sldNum" sz="quarter" idx="12"/>
          </p:nvPr>
        </p:nvSpPr>
        <p:spPr/>
        <p:txBody>
          <a:bodyPr/>
          <a:lstStyle/>
          <a:p>
            <a:fld id="{130A61BE-1BA4-41D7-975A-BF538DEFEF9C}" type="slidenum">
              <a:rPr lang="en-US" smtClean="0"/>
              <a:t>26</a:t>
            </a:fld>
            <a:endParaRPr lang="en-US"/>
          </a:p>
        </p:txBody>
      </p:sp>
      <p:pic>
        <p:nvPicPr>
          <p:cNvPr id="8" name="Picture 7" descr="Several images of the inside of the body&#10;&#10;AI-generated content may be incorrect.">
            <a:extLst>
              <a:ext uri="{FF2B5EF4-FFF2-40B4-BE49-F238E27FC236}">
                <a16:creationId xmlns:a16="http://schemas.microsoft.com/office/drawing/2014/main" id="{6E61CCB4-40DB-FB8D-53F2-46972D80B4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3350" y="970906"/>
            <a:ext cx="5047932" cy="4274820"/>
          </a:xfrm>
          <a:prstGeom prst="rect">
            <a:avLst/>
          </a:prstGeom>
        </p:spPr>
      </p:pic>
      <p:sp>
        <p:nvSpPr>
          <p:cNvPr id="9" name="Text Box 2">
            <a:extLst>
              <a:ext uri="{FF2B5EF4-FFF2-40B4-BE49-F238E27FC236}">
                <a16:creationId xmlns:a16="http://schemas.microsoft.com/office/drawing/2014/main" id="{F2BA2B51-9E17-2F74-3E10-A7462344B01D}"/>
              </a:ext>
            </a:extLst>
          </p:cNvPr>
          <p:cNvSpPr txBox="1">
            <a:spLocks noChangeArrowheads="1"/>
          </p:cNvSpPr>
          <p:nvPr/>
        </p:nvSpPr>
        <p:spPr bwMode="auto">
          <a:xfrm>
            <a:off x="5511958" y="5280651"/>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dirty="0">
                <a:effectLst/>
                <a:latin typeface="Calibri" panose="020F0502020204030204" pitchFamily="34" charset="0"/>
                <a:ea typeface="SimSun" panose="02010600030101010101" pitchFamily="2" charset="-122"/>
                <a:cs typeface="Times New Roman" panose="02020603050405020304" pitchFamily="18" charset="0"/>
              </a:rPr>
              <a:t>Figure 17. Mask creation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35538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4EEC-704C-A54E-F159-052F0668DE7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7E3918D-98FD-5E8E-639A-592E07450F55}"/>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8. Results and discussion</a:t>
            </a:r>
          </a:p>
        </p:txBody>
      </p:sp>
      <p:sp>
        <p:nvSpPr>
          <p:cNvPr id="3" name="Content Placeholder 2">
            <a:extLst>
              <a:ext uri="{FF2B5EF4-FFF2-40B4-BE49-F238E27FC236}">
                <a16:creationId xmlns:a16="http://schemas.microsoft.com/office/drawing/2014/main" id="{6ABDB9C4-8F32-47CC-2CA8-5AFFAEA96F40}"/>
              </a:ext>
            </a:extLst>
          </p:cNvPr>
          <p:cNvSpPr>
            <a:spLocks noGrp="1"/>
          </p:cNvSpPr>
          <p:nvPr>
            <p:ph idx="1"/>
          </p:nvPr>
        </p:nvSpPr>
        <p:spPr>
          <a:xfrm>
            <a:off x="153204" y="930275"/>
            <a:ext cx="3790146" cy="4657725"/>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Contours detection localizes SR regions in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 by refining binary masks from preprocessing steps like thresholding. U-Net enhances this process by learning spatial patterns and predicting precise boundaries using its encoder-decoder structure and skip connections. This automated approach eliminates manual errors and ensures accurate segmentation, supporting high-quality inpainting and clinical usability.</a:t>
            </a:r>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AA2DCCF-985C-FE33-048B-507EF04A78DB}"/>
              </a:ext>
            </a:extLst>
          </p:cNvPr>
          <p:cNvSpPr>
            <a:spLocks noGrp="1"/>
          </p:cNvSpPr>
          <p:nvPr>
            <p:ph type="sldNum" sz="quarter" idx="12"/>
          </p:nvPr>
        </p:nvSpPr>
        <p:spPr/>
        <p:txBody>
          <a:bodyPr/>
          <a:lstStyle/>
          <a:p>
            <a:fld id="{130A61BE-1BA4-41D7-975A-BF538DEFEF9C}" type="slidenum">
              <a:rPr lang="en-US" smtClean="0"/>
              <a:t>27</a:t>
            </a:fld>
            <a:endParaRPr lang="en-US"/>
          </a:p>
        </p:txBody>
      </p:sp>
      <p:pic>
        <p:nvPicPr>
          <p:cNvPr id="2" name="Picture 1" descr="A close-up of several images of a person's body&#10;&#10;AI-generated content may be incorrect.">
            <a:extLst>
              <a:ext uri="{FF2B5EF4-FFF2-40B4-BE49-F238E27FC236}">
                <a16:creationId xmlns:a16="http://schemas.microsoft.com/office/drawing/2014/main" id="{21384A22-C3B1-73BE-BFE9-851E95E624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3350" y="1214746"/>
            <a:ext cx="5200650" cy="3787140"/>
          </a:xfrm>
          <a:prstGeom prst="rect">
            <a:avLst/>
          </a:prstGeom>
        </p:spPr>
      </p:pic>
      <p:sp>
        <p:nvSpPr>
          <p:cNvPr id="11" name="Text Box 2">
            <a:extLst>
              <a:ext uri="{FF2B5EF4-FFF2-40B4-BE49-F238E27FC236}">
                <a16:creationId xmlns:a16="http://schemas.microsoft.com/office/drawing/2014/main" id="{0D43CB4D-83E1-79A4-8222-F987B53CC4DF}"/>
              </a:ext>
            </a:extLst>
          </p:cNvPr>
          <p:cNvSpPr txBox="1">
            <a:spLocks noChangeArrowheads="1"/>
          </p:cNvSpPr>
          <p:nvPr/>
        </p:nvSpPr>
        <p:spPr bwMode="auto">
          <a:xfrm>
            <a:off x="5356860" y="5153007"/>
            <a:ext cx="2373630" cy="2667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IN" sz="1000" b="1" dirty="0">
                <a:effectLst/>
                <a:latin typeface="Calibri" panose="020F0502020204030204" pitchFamily="34" charset="0"/>
                <a:ea typeface="SimSun" panose="02010600030101010101" pitchFamily="2" charset="-122"/>
                <a:cs typeface="Times New Roman" panose="02020603050405020304" pitchFamily="18" charset="0"/>
              </a:rPr>
              <a:t>Figure 18. Contours detection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2291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BD2D4-5A25-C3B9-693C-533284C88B8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3595E18-0BCE-8C50-BC34-AB2C5E857310}"/>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8. Results and discussion</a:t>
            </a:r>
          </a:p>
        </p:txBody>
      </p:sp>
      <p:sp>
        <p:nvSpPr>
          <p:cNvPr id="3" name="Content Placeholder 2">
            <a:extLst>
              <a:ext uri="{FF2B5EF4-FFF2-40B4-BE49-F238E27FC236}">
                <a16:creationId xmlns:a16="http://schemas.microsoft.com/office/drawing/2014/main" id="{94A4737E-4C89-DEA2-1280-0D89A0FB5DAC}"/>
              </a:ext>
            </a:extLst>
          </p:cNvPr>
          <p:cNvSpPr>
            <a:spLocks noGrp="1"/>
          </p:cNvSpPr>
          <p:nvPr>
            <p:ph idx="1"/>
          </p:nvPr>
        </p:nvSpPr>
        <p:spPr>
          <a:xfrm>
            <a:off x="153204" y="930275"/>
            <a:ext cx="3790146" cy="4657725"/>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In this project, U-Net is used for detecting SR regions in </a:t>
            </a:r>
            <a:r>
              <a:rPr lang="en-US" sz="2000" dirty="0" err="1">
                <a:latin typeface="Times New Roman" panose="02020603050405020304" pitchFamily="18" charset="0"/>
                <a:cs typeface="Times New Roman" panose="02020603050405020304" pitchFamily="18" charset="0"/>
              </a:rPr>
              <a:t>colposcopic</a:t>
            </a:r>
            <a:r>
              <a:rPr lang="en-US" sz="2000" dirty="0">
                <a:latin typeface="Times New Roman" panose="02020603050405020304" pitchFamily="18" charset="0"/>
                <a:cs typeface="Times New Roman" panose="02020603050405020304" pitchFamily="18" charset="0"/>
              </a:rPr>
              <a:t> images, ensuring seamless reconstruction and anatomical accuracy. Binary masks highlight SR areas, and the GAN’s encoder-decoder architecture captures features to in-paint missing regions. Skip connections ensure reconstructed areas blend naturally with unaffected parts. This approach delivers realistic results, outperforming traditional methods and supporting clinical diagnostics.</a:t>
            </a:r>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5BF95BE-EA35-AD74-0AD7-A3AF1965A112}"/>
              </a:ext>
            </a:extLst>
          </p:cNvPr>
          <p:cNvSpPr>
            <a:spLocks noGrp="1"/>
          </p:cNvSpPr>
          <p:nvPr>
            <p:ph type="sldNum" sz="quarter" idx="12"/>
          </p:nvPr>
        </p:nvSpPr>
        <p:spPr/>
        <p:txBody>
          <a:bodyPr/>
          <a:lstStyle/>
          <a:p>
            <a:fld id="{130A61BE-1BA4-41D7-975A-BF538DEFEF9C}" type="slidenum">
              <a:rPr lang="en-US" smtClean="0"/>
              <a:t>28</a:t>
            </a:fld>
            <a:endParaRPr lang="en-US"/>
          </a:p>
        </p:txBody>
      </p:sp>
      <p:pic>
        <p:nvPicPr>
          <p:cNvPr id="6" name="Picture 5" descr="A collage of images of skin diseases&#10;&#10;AI-generated content may be incorrect.">
            <a:extLst>
              <a:ext uri="{FF2B5EF4-FFF2-40B4-BE49-F238E27FC236}">
                <a16:creationId xmlns:a16="http://schemas.microsoft.com/office/drawing/2014/main" id="{40A6C90D-E1F7-37A5-96E6-977725AFA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83355" y="993290"/>
            <a:ext cx="5120640" cy="3939540"/>
          </a:xfrm>
          <a:prstGeom prst="rect">
            <a:avLst/>
          </a:prstGeom>
        </p:spPr>
      </p:pic>
      <p:sp>
        <p:nvSpPr>
          <p:cNvPr id="9" name="Text Box 2">
            <a:extLst>
              <a:ext uri="{FF2B5EF4-FFF2-40B4-BE49-F238E27FC236}">
                <a16:creationId xmlns:a16="http://schemas.microsoft.com/office/drawing/2014/main" id="{5F211B53-5C30-10F1-D8A4-780C31D4D554}"/>
              </a:ext>
            </a:extLst>
          </p:cNvPr>
          <p:cNvSpPr txBox="1">
            <a:spLocks noChangeArrowheads="1"/>
          </p:cNvSpPr>
          <p:nvPr/>
        </p:nvSpPr>
        <p:spPr bwMode="auto">
          <a:xfrm>
            <a:off x="3943350" y="5030443"/>
            <a:ext cx="5120640" cy="245128"/>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tabLst>
                <a:tab pos="266700" algn="l"/>
                <a:tab pos="533400" algn="l"/>
              </a:tabLst>
            </a:pPr>
            <a:r>
              <a:rPr lang="en-IN" sz="1000" b="1" dirty="0">
                <a:effectLst/>
                <a:latin typeface="Calibri" panose="020F0502020204030204" pitchFamily="34" charset="0"/>
                <a:ea typeface="SimSun" panose="02010600030101010101" pitchFamily="2" charset="-122"/>
                <a:cs typeface="Times New Roman" panose="02020603050405020304" pitchFamily="18" charset="0"/>
              </a:rPr>
              <a:t>Figure</a:t>
            </a:r>
            <a:r>
              <a:rPr lang="en-US" sz="1000" b="1" dirty="0">
                <a:effectLst/>
                <a:latin typeface="Calibri" panose="020F0502020204030204" pitchFamily="34" charset="0"/>
                <a:ea typeface="SimSun" panose="02010600030101010101" pitchFamily="2" charset="-122"/>
                <a:cs typeface="Times New Roman" panose="02020603050405020304" pitchFamily="18" charset="0"/>
              </a:rPr>
              <a:t> 19</a:t>
            </a:r>
            <a:r>
              <a:rPr lang="en-IN" sz="1000" b="1" dirty="0">
                <a:effectLst/>
                <a:latin typeface="Calibri" panose="020F0502020204030204" pitchFamily="34" charset="0"/>
                <a:ea typeface="SimSun" panose="02010600030101010101" pitchFamily="2" charset="-122"/>
                <a:cs typeface="Times New Roman" panose="02020603050405020304" pitchFamily="18" charset="0"/>
              </a:rPr>
              <a:t>. (A)Augmented image, (B)Mask, (C)Annotated image, (D)In-painted Image</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15000"/>
              </a:lnSpc>
              <a:spcAft>
                <a:spcPts val="1000"/>
              </a:spcAft>
            </a:pPr>
            <a:r>
              <a:rPr lang="en-IN" sz="1000" dirty="0">
                <a:effectLst/>
                <a:latin typeface="Calibri" panose="020F0502020204030204" pitchFamily="34" charset="0"/>
                <a:ea typeface="SimSun" panose="02010600030101010101" pitchFamily="2" charset="-122"/>
                <a:cs typeface="Times New Roman" panose="02020603050405020304" pitchFamily="18" charset="0"/>
              </a:rPr>
              <a:t> </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58973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D134-E4D8-5A48-8832-03A6BB6B02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F2D0505-6EC2-BF89-B069-484D2541DEE2}"/>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9. Conclusion</a:t>
            </a:r>
          </a:p>
        </p:txBody>
      </p:sp>
      <p:sp>
        <p:nvSpPr>
          <p:cNvPr id="3" name="Content Placeholder 2">
            <a:extLst>
              <a:ext uri="{FF2B5EF4-FFF2-40B4-BE49-F238E27FC236}">
                <a16:creationId xmlns:a16="http://schemas.microsoft.com/office/drawing/2014/main" id="{A9459EFD-9E28-2BA9-744D-1AB1C74AB9B9}"/>
              </a:ext>
            </a:extLst>
          </p:cNvPr>
          <p:cNvSpPr>
            <a:spLocks noGrp="1"/>
          </p:cNvSpPr>
          <p:nvPr>
            <p:ph idx="1"/>
          </p:nvPr>
        </p:nvSpPr>
        <p:spPr>
          <a:xfrm>
            <a:off x="381000" y="857232"/>
            <a:ext cx="8106410" cy="4074813"/>
          </a:xfrm>
        </p:spPr>
        <p:txBody>
          <a:bodyPr>
            <a:normAutofit/>
          </a:bodyPr>
          <a:lstStyle/>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project focuses on solving the problem of bright spots (SR) in </a:t>
            </a:r>
            <a:r>
              <a:rPr lang="en-US" altLang="en-US" sz="2000" dirty="0" err="1">
                <a:latin typeface="Times New Roman" panose="02020603050405020304" pitchFamily="18" charset="0"/>
                <a:cs typeface="Times New Roman" panose="02020603050405020304" pitchFamily="18" charset="0"/>
              </a:rPr>
              <a:t>servical</a:t>
            </a:r>
            <a:r>
              <a:rPr lang="en-US" altLang="en-US" sz="2000" dirty="0">
                <a:latin typeface="Times New Roman" panose="02020603050405020304" pitchFamily="18" charset="0"/>
                <a:cs typeface="Times New Roman" panose="02020603050405020304" pitchFamily="18" charset="0"/>
              </a:rPr>
              <a:t> cancer images (</a:t>
            </a:r>
            <a:r>
              <a:rPr lang="en-US" altLang="en-US" sz="2000" dirty="0" err="1">
                <a:latin typeface="Times New Roman" panose="02020603050405020304" pitchFamily="18" charset="0"/>
                <a:cs typeface="Times New Roman" panose="02020603050405020304" pitchFamily="18" charset="0"/>
              </a:rPr>
              <a:t>colposcopic</a:t>
            </a:r>
            <a:r>
              <a:rPr lang="en-US" altLang="en-US" sz="2000" dirty="0">
                <a:latin typeface="Times New Roman" panose="02020603050405020304" pitchFamily="18" charset="0"/>
                <a:cs typeface="Times New Roman" panose="02020603050405020304" pitchFamily="18" charset="0"/>
              </a:rPr>
              <a:t> image) that affect their quality and accuracy. </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It works by detecting and removing these spots from images.</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Machine learning methods will be implemented to fill the affected areas and restore the image.</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solution is practical, using reliable algorithms and available tools.</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It aims to improve image clarity and help achieve better results in analysis.</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It uses various estimation matrix like SSIM to evaluate efficiency.</a:t>
            </a:r>
          </a:p>
        </p:txBody>
      </p:sp>
      <p:sp>
        <p:nvSpPr>
          <p:cNvPr id="5" name="Slide Number Placeholder 4">
            <a:extLst>
              <a:ext uri="{FF2B5EF4-FFF2-40B4-BE49-F238E27FC236}">
                <a16:creationId xmlns:a16="http://schemas.microsoft.com/office/drawing/2014/main" id="{0CFF1ECB-FED0-4699-1EEB-E961D332953A}"/>
              </a:ext>
            </a:extLst>
          </p:cNvPr>
          <p:cNvSpPr>
            <a:spLocks noGrp="1"/>
          </p:cNvSpPr>
          <p:nvPr>
            <p:ph type="sldNum" sz="quarter" idx="12"/>
          </p:nvPr>
        </p:nvSpPr>
        <p:spPr/>
        <p:txBody>
          <a:bodyPr/>
          <a:lstStyle/>
          <a:p>
            <a:fld id="{130A61BE-1BA4-41D7-975A-BF538DEFEF9C}" type="slidenum">
              <a:rPr lang="en-US" smtClean="0"/>
              <a:t>29</a:t>
            </a:fld>
            <a:endParaRPr lang="en-US"/>
          </a:p>
        </p:txBody>
      </p:sp>
    </p:spTree>
    <p:extLst>
      <p:ext uri="{BB962C8B-B14F-4D97-AF65-F5344CB8AC3E}">
        <p14:creationId xmlns:p14="http://schemas.microsoft.com/office/powerpoint/2010/main" val="2944312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4A789-D16E-6C2F-9FD5-38B21B5841D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CDDDDCD-6B33-13FA-EA14-F34511ED654B}"/>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9. Conclusion</a:t>
            </a:r>
          </a:p>
        </p:txBody>
      </p:sp>
      <p:sp>
        <p:nvSpPr>
          <p:cNvPr id="3" name="Content Placeholder 2">
            <a:extLst>
              <a:ext uri="{FF2B5EF4-FFF2-40B4-BE49-F238E27FC236}">
                <a16:creationId xmlns:a16="http://schemas.microsoft.com/office/drawing/2014/main" id="{C97A19F1-3309-AB93-C11B-338AA4CDF92E}"/>
              </a:ext>
            </a:extLst>
          </p:cNvPr>
          <p:cNvSpPr>
            <a:spLocks noGrp="1"/>
          </p:cNvSpPr>
          <p:nvPr>
            <p:ph idx="1"/>
          </p:nvPr>
        </p:nvSpPr>
        <p:spPr>
          <a:xfrm>
            <a:off x="381000" y="857232"/>
            <a:ext cx="8106410" cy="5614688"/>
          </a:xfrm>
        </p:spPr>
        <p:txBody>
          <a:bodyPr>
            <a:noAutofit/>
          </a:bodyPr>
          <a:lstStyle/>
          <a:p>
            <a:pPr marL="0" marR="0" algn="just">
              <a:lnSpc>
                <a:spcPct val="115000"/>
              </a:lnSpc>
              <a:spcAft>
                <a:spcPts val="1000"/>
              </a:spcAft>
              <a:buNone/>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Difficulties Encountered During the Project</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Dataset Preparation:</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Managing and preprocessing datasets with multiple subfolders and formats required significant effort.</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Model Training:</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Ensuring compatibility between architectures (GAN and U-Net) involved multiple debugging sessions, especially in handling mismatched dimensions and loading pre-trained weights.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Inpainting Quality</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Achieving visually appealing inpainting results require fine-tuning hyperparameters and experimenting with different architectures.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Resource Constraints: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Training GANs is computationally intensive and require optimizing resources to avoid prolonged runtimes.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46A174E4-23AC-A7F0-3CA3-C5CC9B157A52}"/>
              </a:ext>
            </a:extLst>
          </p:cNvPr>
          <p:cNvSpPr>
            <a:spLocks noGrp="1"/>
          </p:cNvSpPr>
          <p:nvPr>
            <p:ph type="sldNum" sz="quarter" idx="12"/>
          </p:nvPr>
        </p:nvSpPr>
        <p:spPr/>
        <p:txBody>
          <a:bodyPr/>
          <a:lstStyle/>
          <a:p>
            <a:fld id="{130A61BE-1BA4-41D7-975A-BF538DEFEF9C}" type="slidenum">
              <a:rPr lang="en-US" smtClean="0"/>
              <a:t>30</a:t>
            </a:fld>
            <a:endParaRPr lang="en-US"/>
          </a:p>
        </p:txBody>
      </p:sp>
    </p:spTree>
    <p:extLst>
      <p:ext uri="{BB962C8B-B14F-4D97-AF65-F5344CB8AC3E}">
        <p14:creationId xmlns:p14="http://schemas.microsoft.com/office/powerpoint/2010/main" val="942319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4FDC5-4846-8DC3-5395-DFE1480F917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A7844E-A762-3891-994A-46587F26ACE1}"/>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9. Conclusion</a:t>
            </a:r>
          </a:p>
        </p:txBody>
      </p:sp>
      <p:sp>
        <p:nvSpPr>
          <p:cNvPr id="3" name="Content Placeholder 2">
            <a:extLst>
              <a:ext uri="{FF2B5EF4-FFF2-40B4-BE49-F238E27FC236}">
                <a16:creationId xmlns:a16="http://schemas.microsoft.com/office/drawing/2014/main" id="{A9D09EA7-4370-FD10-95D9-081896C582E4}"/>
              </a:ext>
            </a:extLst>
          </p:cNvPr>
          <p:cNvSpPr>
            <a:spLocks noGrp="1"/>
          </p:cNvSpPr>
          <p:nvPr>
            <p:ph idx="1"/>
          </p:nvPr>
        </p:nvSpPr>
        <p:spPr>
          <a:xfrm>
            <a:off x="381000" y="857232"/>
            <a:ext cx="8106410" cy="5614688"/>
          </a:xfrm>
        </p:spPr>
        <p:txBody>
          <a:bodyPr>
            <a:noAutofit/>
          </a:bodyPr>
          <a:lstStyle/>
          <a:p>
            <a:pPr marL="0" marR="0" algn="just">
              <a:lnSpc>
                <a:spcPct val="115000"/>
              </a:lnSpc>
              <a:spcAft>
                <a:spcPts val="1000"/>
              </a:spcAft>
              <a:buNone/>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Future Scope of the Project</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Enhanced Models: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Exploring state-of-the-art transformers or diffusion models for inpainting could yield better results.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Real-Time Inpainting:</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Developing lightweight models for faster inpainting to enable real-time applications.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Generalization:</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Extending the model to work across diverse datasets and use cases, such as medical imaging and video inpainting.</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Interactive Interface:</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Building an interactive GUI for user-friendly inpainting and visualization.</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Hybrid Approach:</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Combining GANs and diffusion models to improve both visual quality and computational efficiency.</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DB09BB97-281C-86E8-BC25-268AAC9FAFAA}"/>
              </a:ext>
            </a:extLst>
          </p:cNvPr>
          <p:cNvSpPr>
            <a:spLocks noGrp="1"/>
          </p:cNvSpPr>
          <p:nvPr>
            <p:ph type="sldNum" sz="quarter" idx="12"/>
          </p:nvPr>
        </p:nvSpPr>
        <p:spPr/>
        <p:txBody>
          <a:bodyPr/>
          <a:lstStyle/>
          <a:p>
            <a:fld id="{130A61BE-1BA4-41D7-975A-BF538DEFEF9C}" type="slidenum">
              <a:rPr lang="en-US" smtClean="0"/>
              <a:t>31</a:t>
            </a:fld>
            <a:endParaRPr lang="en-US"/>
          </a:p>
        </p:txBody>
      </p:sp>
    </p:spTree>
    <p:extLst>
      <p:ext uri="{BB962C8B-B14F-4D97-AF65-F5344CB8AC3E}">
        <p14:creationId xmlns:p14="http://schemas.microsoft.com/office/powerpoint/2010/main" val="32274883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94432-9837-BED1-9AA6-9C02DA51895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F99EF9B-14C0-204E-E1AB-03AA1E4660F9}"/>
              </a:ext>
            </a:extLst>
          </p:cNvPr>
          <p:cNvSpPr>
            <a:spLocks noGrp="1"/>
          </p:cNvSpPr>
          <p:nvPr>
            <p:ph type="title"/>
          </p:nvPr>
        </p:nvSpPr>
        <p:spPr/>
        <p:txBody>
          <a:bodyPr/>
          <a:lstStyle/>
          <a:p>
            <a:pPr algn="l"/>
            <a:r>
              <a:rPr lang="en-US" sz="4000" dirty="0">
                <a:latin typeface="Times New Roman" panose="02020603050405020304" pitchFamily="18" charset="0"/>
                <a:cs typeface="Times New Roman" panose="02020603050405020304" pitchFamily="18" charset="0"/>
              </a:rPr>
              <a:t>9. Conclusion</a:t>
            </a:r>
          </a:p>
        </p:txBody>
      </p:sp>
      <p:sp>
        <p:nvSpPr>
          <p:cNvPr id="3" name="Content Placeholder 2">
            <a:extLst>
              <a:ext uri="{FF2B5EF4-FFF2-40B4-BE49-F238E27FC236}">
                <a16:creationId xmlns:a16="http://schemas.microsoft.com/office/drawing/2014/main" id="{6084A9D0-A7AF-490E-A2FE-1D01F63F8613}"/>
              </a:ext>
            </a:extLst>
          </p:cNvPr>
          <p:cNvSpPr>
            <a:spLocks noGrp="1"/>
          </p:cNvSpPr>
          <p:nvPr>
            <p:ph idx="1"/>
          </p:nvPr>
        </p:nvSpPr>
        <p:spPr>
          <a:xfrm>
            <a:off x="381000" y="857232"/>
            <a:ext cx="8106410" cy="5614688"/>
          </a:xfrm>
        </p:spPr>
        <p:txBody>
          <a:bodyPr>
            <a:normAutofit/>
          </a:bodyPr>
          <a:lstStyle/>
          <a:p>
            <a:pPr marL="0" marR="0" algn="just">
              <a:lnSpc>
                <a:spcPct val="115000"/>
              </a:lnSpc>
              <a:spcAft>
                <a:spcPts val="1000"/>
              </a:spcAft>
              <a:buNone/>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Limitations of the Project</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Data Dependency:</a:t>
            </a: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The quality of the inpainting heavily depends on the availability and diversity of the dataset.</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Processing Time:</a:t>
            </a: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Despite optimization, the inpainting process remains computationally expensive for large datasets.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Edge Cases:</a:t>
            </a: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The model struggles with extreme variations, such as highly complex textures or irregular shapes.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pPr lvl="1" indent="-342900" algn="just">
              <a:lnSpc>
                <a:spcPct val="115000"/>
              </a:lnSpc>
              <a:spcAft>
                <a:spcPts val="100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Model Scope:</a:t>
            </a: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GANs are sensitive to mode collapse, which can reduce the diversity of generated outputs.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1B9A72-0645-67ED-1D2F-BAF69127349F}"/>
              </a:ext>
            </a:extLst>
          </p:cNvPr>
          <p:cNvSpPr>
            <a:spLocks noGrp="1"/>
          </p:cNvSpPr>
          <p:nvPr>
            <p:ph type="sldNum" sz="quarter" idx="12"/>
          </p:nvPr>
        </p:nvSpPr>
        <p:spPr/>
        <p:txBody>
          <a:bodyPr/>
          <a:lstStyle/>
          <a:p>
            <a:fld id="{130A61BE-1BA4-41D7-975A-BF538DEFEF9C}" type="slidenum">
              <a:rPr lang="en-US" smtClean="0"/>
              <a:t>32</a:t>
            </a:fld>
            <a:endParaRPr lang="en-US"/>
          </a:p>
        </p:txBody>
      </p:sp>
    </p:spTree>
    <p:extLst>
      <p:ext uri="{BB962C8B-B14F-4D97-AF65-F5344CB8AC3E}">
        <p14:creationId xmlns:p14="http://schemas.microsoft.com/office/powerpoint/2010/main" val="651001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just"/>
            <a:r>
              <a:rPr lang="en-US" sz="4000" dirty="0">
                <a:latin typeface="Times New Roman" panose="02020603050405020304" pitchFamily="18" charset="0"/>
                <a:cs typeface="Times New Roman" panose="02020603050405020304" pitchFamily="18" charset="0"/>
              </a:rPr>
              <a:t>10. References</a:t>
            </a:r>
          </a:p>
        </p:txBody>
      </p:sp>
      <p:sp>
        <p:nvSpPr>
          <p:cNvPr id="3" name="Content Placeholder 2"/>
          <p:cNvSpPr>
            <a:spLocks noGrp="1"/>
          </p:cNvSpPr>
          <p:nvPr>
            <p:ph idx="1"/>
          </p:nvPr>
        </p:nvSpPr>
        <p:spPr>
          <a:xfrm>
            <a:off x="152400" y="948055"/>
            <a:ext cx="8767445" cy="5297170"/>
          </a:xfrm>
        </p:spPr>
        <p:txBody>
          <a:bodyPr>
            <a:normAutofit lnSpcReduction="10000"/>
          </a:bodyPr>
          <a:lstStyle/>
          <a:p>
            <a:pPr lvl="0" algn="jus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[1] El Meslouhi, Othmane, et al. "Automatic detection and inpainting of specular reflections for colposcopic images." Central European Journal of Computer Science 1 (2011): 341-354. </a:t>
            </a:r>
          </a:p>
          <a:p>
            <a:pPr lvl="0" algn="jus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[2] Wang, Xiaoxia, et al. "Detection and inpainting of specular reflection in colposcopic images with exemplar-based method." 2019 IEEE 13th International Conference on Anti-counterfeiting, Security, and Identification (ASID). IEEE, 2019.</a:t>
            </a:r>
          </a:p>
          <a:p>
            <a:pPr lvl="0" algn="jus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[3] Wang, X., Li, P., Lv, Y., Xue, H., Xu, T., Du, Y. and Liu, P., 2021. Integration of global and local features for specular reflection inpainting in colposcopic images. Journal of Healthcare Engineering, 2021(1), p.5401308.</a:t>
            </a:r>
          </a:p>
          <a:p>
            <a:pPr lvl="0" algn="jus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[4] Jimenez-Martin, L., Pérez, D.A.V., Asteasuainzarra, A.M.S., Leonard, L. and Díaz-Romañach, M.L.B., 2021. Specular reflections removal in colposcopic images based on neural networks: Supervised training with no ground truth previous knowledge. arXiv preprint arXiv:2106.02221.</a:t>
            </a:r>
          </a:p>
          <a:p>
            <a:pPr lvl="0" algn="jus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[5] Mukku, L. and Thomas, J., 2023, April. A Specular Reflection Removal Technique in Cervigrams. In 2023 IEEE International Conference on Contemporary Computing and Communications (InC4) (Vol. 1, pp. 1-5). IEEE.</a:t>
            </a:r>
          </a:p>
          <a:p>
            <a:pPr lvl="0" algn="just"/>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30A61BE-1BA4-41D7-975A-BF538DEFEF9C}" type="slidenum">
              <a:rPr lang="en-US" smtClean="0"/>
              <a:t>33</a:t>
            </a:fld>
            <a:endParaRPr lang="en-US"/>
          </a:p>
        </p:txBody>
      </p:sp>
    </p:spTree>
  </p:cSld>
  <p:clrMapOvr>
    <a:masterClrMapping/>
  </p:clrMapOvr>
</p:sld>
</file>

<file path=ppt/theme/theme1.xml><?xml version="1.0" encoding="utf-8"?>
<a:theme xmlns:a="http://schemas.openxmlformats.org/drawingml/2006/main" name="Theme1">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bebca67-4c87-43b7-b411-bd51a82ee06e" xsi:nil="true"/>
    <lcf76f155ced4ddcb4097134ff3c332f xmlns="46307214-bbf1-4e2b-a49b-33ee8458b73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7F17E776DC3E40940CBBEE8C5C1AD5" ma:contentTypeVersion="13" ma:contentTypeDescription="Create a new document." ma:contentTypeScope="" ma:versionID="d315d0ecce9d737ffd1ef04c9c64a535">
  <xsd:schema xmlns:xsd="http://www.w3.org/2001/XMLSchema" xmlns:xs="http://www.w3.org/2001/XMLSchema" xmlns:p="http://schemas.microsoft.com/office/2006/metadata/properties" xmlns:ns2="46307214-bbf1-4e2b-a49b-33ee8458b731" xmlns:ns3="3bebca67-4c87-43b7-b411-bd51a82ee06e" targetNamespace="http://schemas.microsoft.com/office/2006/metadata/properties" ma:root="true" ma:fieldsID="5472f99185e0e556b4046ace7110ff7c" ns2:_="" ns3:_="">
    <xsd:import namespace="46307214-bbf1-4e2b-a49b-33ee8458b731"/>
    <xsd:import namespace="3bebca67-4c87-43b7-b411-bd51a82ee06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307214-bbf1-4e2b-a49b-33ee8458b7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bef1ef0-e6b9-4669-8e77-44785e63f21b"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ebca67-4c87-43b7-b411-bd51a82ee0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a2092f9-a9e4-4e41-877d-d5fbace982b8}" ma:internalName="TaxCatchAll" ma:showField="CatchAllData" ma:web="3bebca67-4c87-43b7-b411-bd51a82ee0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F17B5D-B13A-4AAA-ACD4-5889716B6E2B}">
  <ds:schemaRefs/>
</ds:datastoreItem>
</file>

<file path=customXml/itemProps2.xml><?xml version="1.0" encoding="utf-8"?>
<ds:datastoreItem xmlns:ds="http://schemas.openxmlformats.org/officeDocument/2006/customXml" ds:itemID="{77039BED-AF6B-4117-B7A2-F459E4332DA5}">
  <ds:schemaRefs/>
</ds:datastoreItem>
</file>

<file path=customXml/itemProps3.xml><?xml version="1.0" encoding="utf-8"?>
<ds:datastoreItem xmlns:ds="http://schemas.openxmlformats.org/officeDocument/2006/customXml" ds:itemID="{6183EF07-66B3-4DF4-92E6-ED2AF1A9C524}">
  <ds:schemaRefs/>
</ds:datastoreItem>
</file>

<file path=docProps/app.xml><?xml version="1.0" encoding="utf-8"?>
<Properties xmlns="http://schemas.openxmlformats.org/officeDocument/2006/extended-properties" xmlns:vt="http://schemas.openxmlformats.org/officeDocument/2006/docPropsVTypes">
  <Template>Theme1</Template>
  <TotalTime>343</TotalTime>
  <Words>3334</Words>
  <Application>Microsoft Office PowerPoint</Application>
  <PresentationFormat>On-screen Show (4:3)</PresentationFormat>
  <Paragraphs>404</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Cambria Math</vt:lpstr>
      <vt:lpstr>Symbol</vt:lpstr>
      <vt:lpstr>Times New Roman</vt:lpstr>
      <vt:lpstr>Wingdings</vt:lpstr>
      <vt:lpstr>Theme1</vt:lpstr>
      <vt:lpstr>Content</vt:lpstr>
      <vt:lpstr>1. Introduction</vt:lpstr>
      <vt:lpstr>1. Introduction</vt:lpstr>
      <vt:lpstr>2. Aim and Objective</vt:lpstr>
      <vt:lpstr>3. Literature survey</vt:lpstr>
      <vt:lpstr>3. Literature survey</vt:lpstr>
      <vt:lpstr>  </vt:lpstr>
      <vt:lpstr>PowerPoint Presentation</vt:lpstr>
      <vt:lpstr>6. Software Plan</vt:lpstr>
      <vt:lpstr>PowerPoint Presentation</vt:lpstr>
      <vt:lpstr>PowerPoint Presentation</vt:lpstr>
      <vt:lpstr>PowerPoint Presentation</vt:lpstr>
      <vt:lpstr>7. Implementation details </vt:lpstr>
      <vt:lpstr>7. Implementation details </vt:lpstr>
      <vt:lpstr>7. Implementation details </vt:lpstr>
      <vt:lpstr>7. Implementation details </vt:lpstr>
      <vt:lpstr>7. Implementation details </vt:lpstr>
      <vt:lpstr>7. Implementation details </vt:lpstr>
      <vt:lpstr>7. Implementation details </vt:lpstr>
      <vt:lpstr>7. Implementation details </vt:lpstr>
      <vt:lpstr>7. Implementation details </vt:lpstr>
      <vt:lpstr>7. Implementation details </vt:lpstr>
      <vt:lpstr>7. Implementation details </vt:lpstr>
      <vt:lpstr>7. Implementation details </vt:lpstr>
      <vt:lpstr>8. Results and discussion</vt:lpstr>
      <vt:lpstr>8. Results and discussion</vt:lpstr>
      <vt:lpstr>8. Results and discussion</vt:lpstr>
      <vt:lpstr>8. Results and discussion</vt:lpstr>
      <vt:lpstr>9. Conclusion</vt:lpstr>
      <vt:lpstr>9. Conclusion</vt:lpstr>
      <vt:lpstr>9. Conclusion</vt:lpstr>
      <vt:lpstr>9. Conclusion</vt:lpstr>
      <vt:lpstr>10.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Mini-Project Progress Presentation on  “ Title of the Project”</dc:title>
  <dc:creator>Bishal</dc:creator>
  <cp:lastModifiedBy>NISHANK UPRETTI</cp:lastModifiedBy>
  <cp:revision>80</cp:revision>
  <dcterms:created xsi:type="dcterms:W3CDTF">2014-10-10T08:08:00Z</dcterms:created>
  <dcterms:modified xsi:type="dcterms:W3CDTF">2025-11-02T05:47:57Z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0x0101000B7F17E776DC3E40940CBBEE8C5C1AD5</vt:lpwstr>
  </property>
  <property fmtid="{D5CDD505-2E9C-101B-9397-08002B2CF9AE}" pid="3" name="MediaServiceImageTags">
    <vt:lpwstr/>
  </property>
  <property fmtid="{D5CDD505-2E9C-101B-9397-08002B2CF9AE}" pid="4" name="ICV">
    <vt:lpwstr>6B7BD58B45F34A47BCA02233AE2A4C62_13</vt:lpwstr>
  </property>
  <property fmtid="{D5CDD505-2E9C-101B-9397-08002B2CF9AE}" pid="5" name="KSOProductBuildVer">
    <vt:lpwstr>1033-12.2.0.20795</vt:lpwstr>
  </property>
</Properties>
</file>